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diagrams/layout1.xml" ContentType="application/vnd.openxmlformats-officedocument.drawingml.diagram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0" r:id="rId1"/>
  </p:sldMasterIdLst>
  <p:notesMasterIdLst>
    <p:notesMasterId r:id="rId20"/>
  </p:notesMasterIdLst>
  <p:sldIdLst>
    <p:sldId id="256" r:id="rId2"/>
    <p:sldId id="269" r:id="rId3"/>
    <p:sldId id="268" r:id="rId4"/>
    <p:sldId id="270" r:id="rId5"/>
    <p:sldId id="257" r:id="rId6"/>
    <p:sldId id="271" r:id="rId7"/>
    <p:sldId id="258" r:id="rId8"/>
    <p:sldId id="272" r:id="rId9"/>
    <p:sldId id="274" r:id="rId10"/>
    <p:sldId id="276" r:id="rId11"/>
    <p:sldId id="259" r:id="rId12"/>
    <p:sldId id="260" r:id="rId13"/>
    <p:sldId id="275" r:id="rId14"/>
    <p:sldId id="261" r:id="rId15"/>
    <p:sldId id="262" r:id="rId16"/>
    <p:sldId id="277" r:id="rId17"/>
    <p:sldId id="263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576" y="-6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A03389-6A46-4918-A23C-A09749F17896}" type="doc">
      <dgm:prSet loTypeId="urn:microsoft.com/office/officeart/2005/8/layout/hProcess4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D0FF89-C193-4483-8B01-C65150819D66}">
      <dgm:prSet phldrT="[Text]"/>
      <dgm:spPr/>
      <dgm:t>
        <a:bodyPr/>
        <a:lstStyle/>
        <a:p>
          <a:r>
            <a:rPr lang="en-US" dirty="0" smtClean="0"/>
            <a:t>Customer</a:t>
          </a:r>
          <a:endParaRPr lang="en-US" dirty="0"/>
        </a:p>
      </dgm:t>
    </dgm:pt>
    <dgm:pt modelId="{C120076C-FAB3-451F-A1B5-9A97926B82BA}" type="parTrans" cxnId="{B06825D2-3C95-481E-8EA9-860606A398B5}">
      <dgm:prSet/>
      <dgm:spPr/>
      <dgm:t>
        <a:bodyPr/>
        <a:lstStyle/>
        <a:p>
          <a:endParaRPr lang="en-US"/>
        </a:p>
      </dgm:t>
    </dgm:pt>
    <dgm:pt modelId="{8266C08A-9A37-49A1-B1D8-0EF7DCB0FF82}" type="sibTrans" cxnId="{B06825D2-3C95-481E-8EA9-860606A398B5}">
      <dgm:prSet/>
      <dgm:spPr/>
      <dgm:t>
        <a:bodyPr/>
        <a:lstStyle/>
        <a:p>
          <a:endParaRPr lang="en-US"/>
        </a:p>
      </dgm:t>
    </dgm:pt>
    <dgm:pt modelId="{BCA5E125-0A73-40E8-B022-8A447DEBB18D}">
      <dgm:prSet phldrT="[Text]"/>
      <dgm:spPr/>
      <dgm:t>
        <a:bodyPr/>
        <a:lstStyle/>
        <a:p>
          <a:r>
            <a:rPr lang="en-US" dirty="0" smtClean="0"/>
            <a:t>Staff</a:t>
          </a:r>
          <a:endParaRPr lang="en-US" dirty="0"/>
        </a:p>
      </dgm:t>
    </dgm:pt>
    <dgm:pt modelId="{E6048046-6A50-4A91-AB9A-9A162E6FF090}" type="parTrans" cxnId="{BA235204-D539-4613-875A-4EECB15CBD16}">
      <dgm:prSet/>
      <dgm:spPr/>
      <dgm:t>
        <a:bodyPr/>
        <a:lstStyle/>
        <a:p>
          <a:endParaRPr lang="en-US"/>
        </a:p>
      </dgm:t>
    </dgm:pt>
    <dgm:pt modelId="{8A372D64-17F0-4438-8B55-2645052EF533}" type="sibTrans" cxnId="{BA235204-D539-4613-875A-4EECB15CBD16}">
      <dgm:prSet/>
      <dgm:spPr/>
      <dgm:t>
        <a:bodyPr/>
        <a:lstStyle/>
        <a:p>
          <a:endParaRPr lang="en-US"/>
        </a:p>
      </dgm:t>
    </dgm:pt>
    <dgm:pt modelId="{2E8DC2C6-3CB5-4F53-A8E8-E751B26BB7B1}">
      <dgm:prSet phldrT="[Text]"/>
      <dgm:spPr/>
      <dgm:t>
        <a:bodyPr/>
        <a:lstStyle/>
        <a:p>
          <a:r>
            <a:rPr lang="en-US" dirty="0" smtClean="0"/>
            <a:t>I use </a:t>
          </a:r>
          <a:r>
            <a:rPr lang="en-US" dirty="0" err="1" smtClean="0"/>
            <a:t>Stackedhub</a:t>
          </a:r>
          <a:r>
            <a:rPr lang="en-US" dirty="0" smtClean="0"/>
            <a:t> to perform the day-to-day operational task assigned to me</a:t>
          </a:r>
          <a:endParaRPr lang="en-US" dirty="0"/>
        </a:p>
      </dgm:t>
    </dgm:pt>
    <dgm:pt modelId="{8065F2D0-4B34-4514-9E44-C6344F426A23}" type="parTrans" cxnId="{840B537E-A1EC-4812-8D3C-8CA9E9F8779D}">
      <dgm:prSet/>
      <dgm:spPr/>
      <dgm:t>
        <a:bodyPr/>
        <a:lstStyle/>
        <a:p>
          <a:endParaRPr lang="en-US"/>
        </a:p>
      </dgm:t>
    </dgm:pt>
    <dgm:pt modelId="{646FDA15-6CF3-48CD-82C6-871E6DCBCA2F}" type="sibTrans" cxnId="{840B537E-A1EC-4812-8D3C-8CA9E9F8779D}">
      <dgm:prSet/>
      <dgm:spPr/>
      <dgm:t>
        <a:bodyPr/>
        <a:lstStyle/>
        <a:p>
          <a:endParaRPr lang="en-US"/>
        </a:p>
      </dgm:t>
    </dgm:pt>
    <dgm:pt modelId="{63A9A8E7-8B99-4506-BC0A-567F79CD8A87}">
      <dgm:prSet phldrT="[Text]"/>
      <dgm:spPr/>
      <dgm:t>
        <a:bodyPr/>
        <a:lstStyle/>
        <a:p>
          <a:r>
            <a:rPr lang="en-US" dirty="0" smtClean="0"/>
            <a:t>Admin</a:t>
          </a:r>
          <a:endParaRPr lang="en-US" dirty="0"/>
        </a:p>
      </dgm:t>
    </dgm:pt>
    <dgm:pt modelId="{1A29CD65-225F-485D-A375-A9FB8193DB2E}" type="parTrans" cxnId="{A695BE79-8876-46E2-AB33-2CD53C652885}">
      <dgm:prSet/>
      <dgm:spPr/>
      <dgm:t>
        <a:bodyPr/>
        <a:lstStyle/>
        <a:p>
          <a:endParaRPr lang="en-US"/>
        </a:p>
      </dgm:t>
    </dgm:pt>
    <dgm:pt modelId="{935D5877-858E-4271-8AC9-157F7C70EBEE}" type="sibTrans" cxnId="{A695BE79-8876-46E2-AB33-2CD53C652885}">
      <dgm:prSet/>
      <dgm:spPr/>
      <dgm:t>
        <a:bodyPr/>
        <a:lstStyle/>
        <a:p>
          <a:endParaRPr lang="en-US"/>
        </a:p>
      </dgm:t>
    </dgm:pt>
    <dgm:pt modelId="{8D448A80-C75D-4AF5-A632-8D99C37EEB2F}">
      <dgm:prSet phldrT="[Text]"/>
      <dgm:spPr/>
      <dgm:t>
        <a:bodyPr/>
        <a:lstStyle/>
        <a:p>
          <a:r>
            <a:rPr lang="en-US" dirty="0" smtClean="0"/>
            <a:t>I oversee the system and manage information and users required to keep </a:t>
          </a:r>
          <a:r>
            <a:rPr lang="en-US" dirty="0" err="1" smtClean="0"/>
            <a:t>StackedHub</a:t>
          </a:r>
          <a:r>
            <a:rPr lang="en-US" dirty="0" smtClean="0"/>
            <a:t> running</a:t>
          </a:r>
          <a:endParaRPr lang="en-US" dirty="0"/>
        </a:p>
      </dgm:t>
    </dgm:pt>
    <dgm:pt modelId="{B976A40E-2176-4F14-90A2-A5239E5551EC}" type="parTrans" cxnId="{5C014FC3-1C6B-4BF4-B75F-DB255A86A213}">
      <dgm:prSet/>
      <dgm:spPr/>
      <dgm:t>
        <a:bodyPr/>
        <a:lstStyle/>
        <a:p>
          <a:endParaRPr lang="en-US"/>
        </a:p>
      </dgm:t>
    </dgm:pt>
    <dgm:pt modelId="{2777B3BD-D42F-4080-ABE7-1D2EF5F8E0AC}" type="sibTrans" cxnId="{5C014FC3-1C6B-4BF4-B75F-DB255A86A213}">
      <dgm:prSet/>
      <dgm:spPr/>
      <dgm:t>
        <a:bodyPr/>
        <a:lstStyle/>
        <a:p>
          <a:endParaRPr lang="en-US"/>
        </a:p>
      </dgm:t>
    </dgm:pt>
    <dgm:pt modelId="{F707C2FD-4947-4A59-B57A-76B7986495EA}">
      <dgm:prSet phldrT="[Text]"/>
      <dgm:spPr/>
      <dgm:t>
        <a:bodyPr/>
        <a:lstStyle/>
        <a:p>
          <a:r>
            <a:rPr lang="en-US" dirty="0" smtClean="0"/>
            <a:t>I want to use </a:t>
          </a:r>
          <a:r>
            <a:rPr lang="en-US" dirty="0" err="1" smtClean="0"/>
            <a:t>Stackedhub</a:t>
          </a:r>
          <a:r>
            <a:rPr lang="en-US" dirty="0" smtClean="0"/>
            <a:t> to interact with the business and manage my customer experience:</a:t>
          </a:r>
          <a:endParaRPr lang="en-US" dirty="0"/>
        </a:p>
      </dgm:t>
    </dgm:pt>
    <dgm:pt modelId="{86D49731-C34E-4054-B06C-1B3EC4D66D99}" type="sibTrans" cxnId="{2D0A3ECA-A2C2-46BA-8000-70FF2D68E5B3}">
      <dgm:prSet/>
      <dgm:spPr/>
      <dgm:t>
        <a:bodyPr/>
        <a:lstStyle/>
        <a:p>
          <a:endParaRPr lang="en-US"/>
        </a:p>
      </dgm:t>
    </dgm:pt>
    <dgm:pt modelId="{B054C4F5-1E5E-4BD6-8B25-947C58E5ACF0}" type="parTrans" cxnId="{2D0A3ECA-A2C2-46BA-8000-70FF2D68E5B3}">
      <dgm:prSet/>
      <dgm:spPr/>
      <dgm:t>
        <a:bodyPr/>
        <a:lstStyle/>
        <a:p>
          <a:endParaRPr lang="en-US"/>
        </a:p>
      </dgm:t>
    </dgm:pt>
    <dgm:pt modelId="{2C870714-EC77-48D4-B0DD-C548BAB1EE55}" type="pres">
      <dgm:prSet presAssocID="{12A03389-6A46-4918-A23C-A09749F17896}" presName="Name0" presStyleCnt="0">
        <dgm:presLayoutVars>
          <dgm:dir/>
          <dgm:animLvl val="lvl"/>
          <dgm:resizeHandles val="exact"/>
        </dgm:presLayoutVars>
      </dgm:prSet>
      <dgm:spPr/>
    </dgm:pt>
    <dgm:pt modelId="{18D0EE17-6B02-4246-9137-A3C7B1D9B667}" type="pres">
      <dgm:prSet presAssocID="{12A03389-6A46-4918-A23C-A09749F17896}" presName="tSp" presStyleCnt="0"/>
      <dgm:spPr/>
    </dgm:pt>
    <dgm:pt modelId="{162F50CD-6220-40BE-87E3-96E69F6C19BA}" type="pres">
      <dgm:prSet presAssocID="{12A03389-6A46-4918-A23C-A09749F17896}" presName="bSp" presStyleCnt="0"/>
      <dgm:spPr/>
    </dgm:pt>
    <dgm:pt modelId="{A9723196-8830-4506-B8C1-C38F0F98748F}" type="pres">
      <dgm:prSet presAssocID="{12A03389-6A46-4918-A23C-A09749F17896}" presName="process" presStyleCnt="0"/>
      <dgm:spPr/>
    </dgm:pt>
    <dgm:pt modelId="{C9D8610F-2C8C-4272-9D82-79722EC6A639}" type="pres">
      <dgm:prSet presAssocID="{8DD0FF89-C193-4483-8B01-C65150819D66}" presName="composite1" presStyleCnt="0"/>
      <dgm:spPr/>
    </dgm:pt>
    <dgm:pt modelId="{3191549A-1E37-424B-87CA-A668D7C857BE}" type="pres">
      <dgm:prSet presAssocID="{8DD0FF89-C193-4483-8B01-C65150819D66}" presName="dummyNode1" presStyleLbl="node1" presStyleIdx="0" presStyleCnt="3"/>
      <dgm:spPr/>
    </dgm:pt>
    <dgm:pt modelId="{9689CE2A-EF8A-4156-94EF-BCDC28BADCB0}" type="pres">
      <dgm:prSet presAssocID="{8DD0FF89-C193-4483-8B01-C65150819D66}" presName="childNode1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E33D8B0-08E0-4115-B9BE-DD4655D68F12}" type="pres">
      <dgm:prSet presAssocID="{8DD0FF89-C193-4483-8B01-C65150819D66}" presName="childNode1tx" presStyleLbl="b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0DFFD4-A992-41BE-BCAA-A2AA930A6555}" type="pres">
      <dgm:prSet presAssocID="{8DD0FF89-C193-4483-8B01-C65150819D66}" presName="parentNode1" presStyleLbl="node1" presStyleIdx="0" presStyleCnt="3">
        <dgm:presLayoutVars>
          <dgm:chMax val="1"/>
          <dgm:bulletEnabled val="1"/>
        </dgm:presLayoutVars>
      </dgm:prSet>
      <dgm:spPr/>
    </dgm:pt>
    <dgm:pt modelId="{DAF84101-3986-4DB6-B776-A00790424E9A}" type="pres">
      <dgm:prSet presAssocID="{8DD0FF89-C193-4483-8B01-C65150819D66}" presName="connSite1" presStyleCnt="0"/>
      <dgm:spPr/>
    </dgm:pt>
    <dgm:pt modelId="{1424B10F-D762-4736-86F3-5D641AB5AFA7}" type="pres">
      <dgm:prSet presAssocID="{8266C08A-9A37-49A1-B1D8-0EF7DCB0FF82}" presName="Name9" presStyleLbl="sibTrans2D1" presStyleIdx="0" presStyleCnt="2"/>
      <dgm:spPr/>
    </dgm:pt>
    <dgm:pt modelId="{2ACA4101-BE3D-47D8-8F54-9CDEA70D0C31}" type="pres">
      <dgm:prSet presAssocID="{BCA5E125-0A73-40E8-B022-8A447DEBB18D}" presName="composite2" presStyleCnt="0"/>
      <dgm:spPr/>
    </dgm:pt>
    <dgm:pt modelId="{6B74F2FA-76F4-41DB-AA26-2136D568026F}" type="pres">
      <dgm:prSet presAssocID="{BCA5E125-0A73-40E8-B022-8A447DEBB18D}" presName="dummyNode2" presStyleLbl="node1" presStyleIdx="0" presStyleCnt="3"/>
      <dgm:spPr/>
    </dgm:pt>
    <dgm:pt modelId="{82BA37F7-9A85-4225-8E97-9ADF695B0511}" type="pres">
      <dgm:prSet presAssocID="{BCA5E125-0A73-40E8-B022-8A447DEBB18D}" presName="childNode2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45D709C-B18B-4EF7-9B5F-2EEFBBDA101B}" type="pres">
      <dgm:prSet presAssocID="{BCA5E125-0A73-40E8-B022-8A447DEBB18D}" presName="childNode2tx" presStyleLbl="b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029743-A182-4E82-BD43-E29402F1A314}" type="pres">
      <dgm:prSet presAssocID="{BCA5E125-0A73-40E8-B022-8A447DEBB18D}" presName="parentNode2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46E228C-8109-4916-83F3-F2ACA0691B18}" type="pres">
      <dgm:prSet presAssocID="{BCA5E125-0A73-40E8-B022-8A447DEBB18D}" presName="connSite2" presStyleCnt="0"/>
      <dgm:spPr/>
    </dgm:pt>
    <dgm:pt modelId="{65E19F40-C26C-4CCE-81B5-7796DC147A47}" type="pres">
      <dgm:prSet presAssocID="{8A372D64-17F0-4438-8B55-2645052EF533}" presName="Name18" presStyleLbl="sibTrans2D1" presStyleIdx="1" presStyleCnt="2"/>
      <dgm:spPr/>
    </dgm:pt>
    <dgm:pt modelId="{5CC3F296-C790-4992-BACE-5EC293C860A9}" type="pres">
      <dgm:prSet presAssocID="{63A9A8E7-8B99-4506-BC0A-567F79CD8A87}" presName="composite1" presStyleCnt="0"/>
      <dgm:spPr/>
    </dgm:pt>
    <dgm:pt modelId="{938B63EF-07D9-4715-9B13-42E8B60795A5}" type="pres">
      <dgm:prSet presAssocID="{63A9A8E7-8B99-4506-BC0A-567F79CD8A87}" presName="dummyNode1" presStyleLbl="node1" presStyleIdx="1" presStyleCnt="3"/>
      <dgm:spPr/>
    </dgm:pt>
    <dgm:pt modelId="{9B2E058E-5A16-4753-9B94-F1C8877320DB}" type="pres">
      <dgm:prSet presAssocID="{63A9A8E7-8B99-4506-BC0A-567F79CD8A87}" presName="childNode1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31169DC-B4E9-4AA4-9F8C-5D8A77694AA8}" type="pres">
      <dgm:prSet presAssocID="{63A9A8E7-8B99-4506-BC0A-567F79CD8A87}" presName="childNode1tx" presStyleLbl="b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8D986B5-6342-489D-9736-FD6B11FE7E0B}" type="pres">
      <dgm:prSet presAssocID="{63A9A8E7-8B99-4506-BC0A-567F79CD8A87}" presName="parentNode1" presStyleLbl="node1" presStyleIdx="2" presStyleCnt="3">
        <dgm:presLayoutVars>
          <dgm:chMax val="1"/>
          <dgm:bulletEnabled val="1"/>
        </dgm:presLayoutVars>
      </dgm:prSet>
      <dgm:spPr/>
    </dgm:pt>
    <dgm:pt modelId="{51BCD9F2-5ECD-43E2-BFFA-8838148DDF0C}" type="pres">
      <dgm:prSet presAssocID="{63A9A8E7-8B99-4506-BC0A-567F79CD8A87}" presName="connSite1" presStyleCnt="0"/>
      <dgm:spPr/>
    </dgm:pt>
  </dgm:ptLst>
  <dgm:cxnLst>
    <dgm:cxn modelId="{EE98231F-A3B5-4A8D-8FFE-4D7EB0C0AC24}" type="presOf" srcId="{F707C2FD-4947-4A59-B57A-76B7986495EA}" destId="{4E33D8B0-08E0-4115-B9BE-DD4655D68F12}" srcOrd="1" destOrd="0" presId="urn:microsoft.com/office/officeart/2005/8/layout/hProcess4"/>
    <dgm:cxn modelId="{A695BE79-8876-46E2-AB33-2CD53C652885}" srcId="{12A03389-6A46-4918-A23C-A09749F17896}" destId="{63A9A8E7-8B99-4506-BC0A-567F79CD8A87}" srcOrd="2" destOrd="0" parTransId="{1A29CD65-225F-485D-A375-A9FB8193DB2E}" sibTransId="{935D5877-858E-4271-8AC9-157F7C70EBEE}"/>
    <dgm:cxn modelId="{4FD10E21-F76F-4D64-81DE-0FD0A83CC68C}" type="presOf" srcId="{8D448A80-C75D-4AF5-A632-8D99C37EEB2F}" destId="{B31169DC-B4E9-4AA4-9F8C-5D8A77694AA8}" srcOrd="1" destOrd="0" presId="urn:microsoft.com/office/officeart/2005/8/layout/hProcess4"/>
    <dgm:cxn modelId="{840B537E-A1EC-4812-8D3C-8CA9E9F8779D}" srcId="{BCA5E125-0A73-40E8-B022-8A447DEBB18D}" destId="{2E8DC2C6-3CB5-4F53-A8E8-E751B26BB7B1}" srcOrd="0" destOrd="0" parTransId="{8065F2D0-4B34-4514-9E44-C6344F426A23}" sibTransId="{646FDA15-6CF3-48CD-82C6-871E6DCBCA2F}"/>
    <dgm:cxn modelId="{C4280BEB-49AD-40C5-877B-50CC04EB2BD0}" type="presOf" srcId="{8266C08A-9A37-49A1-B1D8-0EF7DCB0FF82}" destId="{1424B10F-D762-4736-86F3-5D641AB5AFA7}" srcOrd="0" destOrd="0" presId="urn:microsoft.com/office/officeart/2005/8/layout/hProcess4"/>
    <dgm:cxn modelId="{BC7A49A8-1402-40FD-B549-A1C2DF1AAA08}" type="presOf" srcId="{8DD0FF89-C193-4483-8B01-C65150819D66}" destId="{D00DFFD4-A992-41BE-BCAA-A2AA930A6555}" srcOrd="0" destOrd="0" presId="urn:microsoft.com/office/officeart/2005/8/layout/hProcess4"/>
    <dgm:cxn modelId="{76413CC9-9E67-47E2-AE2F-B613DC69E701}" type="presOf" srcId="{BCA5E125-0A73-40E8-B022-8A447DEBB18D}" destId="{A9029743-A182-4E82-BD43-E29402F1A314}" srcOrd="0" destOrd="0" presId="urn:microsoft.com/office/officeart/2005/8/layout/hProcess4"/>
    <dgm:cxn modelId="{5C014FC3-1C6B-4BF4-B75F-DB255A86A213}" srcId="{63A9A8E7-8B99-4506-BC0A-567F79CD8A87}" destId="{8D448A80-C75D-4AF5-A632-8D99C37EEB2F}" srcOrd="0" destOrd="0" parTransId="{B976A40E-2176-4F14-90A2-A5239E5551EC}" sibTransId="{2777B3BD-D42F-4080-ABE7-1D2EF5F8E0AC}"/>
    <dgm:cxn modelId="{BA235204-D539-4613-875A-4EECB15CBD16}" srcId="{12A03389-6A46-4918-A23C-A09749F17896}" destId="{BCA5E125-0A73-40E8-B022-8A447DEBB18D}" srcOrd="1" destOrd="0" parTransId="{E6048046-6A50-4A91-AB9A-9A162E6FF090}" sibTransId="{8A372D64-17F0-4438-8B55-2645052EF533}"/>
    <dgm:cxn modelId="{FA66FB99-DBD3-434A-8DF0-F432745A8685}" type="presOf" srcId="{2E8DC2C6-3CB5-4F53-A8E8-E751B26BB7B1}" destId="{82BA37F7-9A85-4225-8E97-9ADF695B0511}" srcOrd="0" destOrd="0" presId="urn:microsoft.com/office/officeart/2005/8/layout/hProcess4"/>
    <dgm:cxn modelId="{9CE3F626-58B4-43C8-AA92-8ECF90F1B60C}" type="presOf" srcId="{8D448A80-C75D-4AF5-A632-8D99C37EEB2F}" destId="{9B2E058E-5A16-4753-9B94-F1C8877320DB}" srcOrd="0" destOrd="0" presId="urn:microsoft.com/office/officeart/2005/8/layout/hProcess4"/>
    <dgm:cxn modelId="{183AAB44-A89E-4711-9BFA-4F8F476E1823}" type="presOf" srcId="{63A9A8E7-8B99-4506-BC0A-567F79CD8A87}" destId="{B8D986B5-6342-489D-9736-FD6B11FE7E0B}" srcOrd="0" destOrd="0" presId="urn:microsoft.com/office/officeart/2005/8/layout/hProcess4"/>
    <dgm:cxn modelId="{B06825D2-3C95-481E-8EA9-860606A398B5}" srcId="{12A03389-6A46-4918-A23C-A09749F17896}" destId="{8DD0FF89-C193-4483-8B01-C65150819D66}" srcOrd="0" destOrd="0" parTransId="{C120076C-FAB3-451F-A1B5-9A97926B82BA}" sibTransId="{8266C08A-9A37-49A1-B1D8-0EF7DCB0FF82}"/>
    <dgm:cxn modelId="{DE061030-1C4E-4F74-8350-11A78EB985B6}" type="presOf" srcId="{2E8DC2C6-3CB5-4F53-A8E8-E751B26BB7B1}" destId="{145D709C-B18B-4EF7-9B5F-2EEFBBDA101B}" srcOrd="1" destOrd="0" presId="urn:microsoft.com/office/officeart/2005/8/layout/hProcess4"/>
    <dgm:cxn modelId="{F1DB0586-C7F0-40A2-862F-B4634793CEB9}" type="presOf" srcId="{8A372D64-17F0-4438-8B55-2645052EF533}" destId="{65E19F40-C26C-4CCE-81B5-7796DC147A47}" srcOrd="0" destOrd="0" presId="urn:microsoft.com/office/officeart/2005/8/layout/hProcess4"/>
    <dgm:cxn modelId="{2D0A3ECA-A2C2-46BA-8000-70FF2D68E5B3}" srcId="{8DD0FF89-C193-4483-8B01-C65150819D66}" destId="{F707C2FD-4947-4A59-B57A-76B7986495EA}" srcOrd="0" destOrd="0" parTransId="{B054C4F5-1E5E-4BD6-8B25-947C58E5ACF0}" sibTransId="{86D49731-C34E-4054-B06C-1B3EC4D66D99}"/>
    <dgm:cxn modelId="{36F5D4F0-DF75-4831-A4B1-0388C6DCC876}" type="presOf" srcId="{12A03389-6A46-4918-A23C-A09749F17896}" destId="{2C870714-EC77-48D4-B0DD-C548BAB1EE55}" srcOrd="0" destOrd="0" presId="urn:microsoft.com/office/officeart/2005/8/layout/hProcess4"/>
    <dgm:cxn modelId="{2095FF8D-5EE2-4E37-BAB8-54D232BBD30E}" type="presOf" srcId="{F707C2FD-4947-4A59-B57A-76B7986495EA}" destId="{9689CE2A-EF8A-4156-94EF-BCDC28BADCB0}" srcOrd="0" destOrd="0" presId="urn:microsoft.com/office/officeart/2005/8/layout/hProcess4"/>
    <dgm:cxn modelId="{E0651CDE-5DF7-40FF-B3B4-39AFD761EB7A}" type="presParOf" srcId="{2C870714-EC77-48D4-B0DD-C548BAB1EE55}" destId="{18D0EE17-6B02-4246-9137-A3C7B1D9B667}" srcOrd="0" destOrd="0" presId="urn:microsoft.com/office/officeart/2005/8/layout/hProcess4"/>
    <dgm:cxn modelId="{9C36B648-A82F-429B-88F3-A488C9E64B74}" type="presParOf" srcId="{2C870714-EC77-48D4-B0DD-C548BAB1EE55}" destId="{162F50CD-6220-40BE-87E3-96E69F6C19BA}" srcOrd="1" destOrd="0" presId="urn:microsoft.com/office/officeart/2005/8/layout/hProcess4"/>
    <dgm:cxn modelId="{1E486040-BD99-4694-8311-8790CB8652D8}" type="presParOf" srcId="{2C870714-EC77-48D4-B0DD-C548BAB1EE55}" destId="{A9723196-8830-4506-B8C1-C38F0F98748F}" srcOrd="2" destOrd="0" presId="urn:microsoft.com/office/officeart/2005/8/layout/hProcess4"/>
    <dgm:cxn modelId="{A773F5A1-E87A-496B-89EB-AE45FDF2F055}" type="presParOf" srcId="{A9723196-8830-4506-B8C1-C38F0F98748F}" destId="{C9D8610F-2C8C-4272-9D82-79722EC6A639}" srcOrd="0" destOrd="0" presId="urn:microsoft.com/office/officeart/2005/8/layout/hProcess4"/>
    <dgm:cxn modelId="{0BD850CA-B53A-4589-AA94-B12BF3453A27}" type="presParOf" srcId="{C9D8610F-2C8C-4272-9D82-79722EC6A639}" destId="{3191549A-1E37-424B-87CA-A668D7C857BE}" srcOrd="0" destOrd="0" presId="urn:microsoft.com/office/officeart/2005/8/layout/hProcess4"/>
    <dgm:cxn modelId="{5B1ABDF1-28A4-449D-9902-7E3ED3F83021}" type="presParOf" srcId="{C9D8610F-2C8C-4272-9D82-79722EC6A639}" destId="{9689CE2A-EF8A-4156-94EF-BCDC28BADCB0}" srcOrd="1" destOrd="0" presId="urn:microsoft.com/office/officeart/2005/8/layout/hProcess4"/>
    <dgm:cxn modelId="{41874C83-BAB3-435D-B59A-5C39F6DBA88B}" type="presParOf" srcId="{C9D8610F-2C8C-4272-9D82-79722EC6A639}" destId="{4E33D8B0-08E0-4115-B9BE-DD4655D68F12}" srcOrd="2" destOrd="0" presId="urn:microsoft.com/office/officeart/2005/8/layout/hProcess4"/>
    <dgm:cxn modelId="{E6DB41F9-B738-4F84-895C-60FCAE338FC4}" type="presParOf" srcId="{C9D8610F-2C8C-4272-9D82-79722EC6A639}" destId="{D00DFFD4-A992-41BE-BCAA-A2AA930A6555}" srcOrd="3" destOrd="0" presId="urn:microsoft.com/office/officeart/2005/8/layout/hProcess4"/>
    <dgm:cxn modelId="{690AA735-9D63-44D6-9CF7-87995FDB161A}" type="presParOf" srcId="{C9D8610F-2C8C-4272-9D82-79722EC6A639}" destId="{DAF84101-3986-4DB6-B776-A00790424E9A}" srcOrd="4" destOrd="0" presId="urn:microsoft.com/office/officeart/2005/8/layout/hProcess4"/>
    <dgm:cxn modelId="{1F928410-E8C9-475B-B689-5DC6584C0019}" type="presParOf" srcId="{A9723196-8830-4506-B8C1-C38F0F98748F}" destId="{1424B10F-D762-4736-86F3-5D641AB5AFA7}" srcOrd="1" destOrd="0" presId="urn:microsoft.com/office/officeart/2005/8/layout/hProcess4"/>
    <dgm:cxn modelId="{65FB7B6D-A892-4317-B311-F883E8122622}" type="presParOf" srcId="{A9723196-8830-4506-B8C1-C38F0F98748F}" destId="{2ACA4101-BE3D-47D8-8F54-9CDEA70D0C31}" srcOrd="2" destOrd="0" presId="urn:microsoft.com/office/officeart/2005/8/layout/hProcess4"/>
    <dgm:cxn modelId="{E855694D-1A96-411B-92BD-852C241E14D5}" type="presParOf" srcId="{2ACA4101-BE3D-47D8-8F54-9CDEA70D0C31}" destId="{6B74F2FA-76F4-41DB-AA26-2136D568026F}" srcOrd="0" destOrd="0" presId="urn:microsoft.com/office/officeart/2005/8/layout/hProcess4"/>
    <dgm:cxn modelId="{58700DCA-7FD3-4B9B-834A-932755DEA2AC}" type="presParOf" srcId="{2ACA4101-BE3D-47D8-8F54-9CDEA70D0C31}" destId="{82BA37F7-9A85-4225-8E97-9ADF695B0511}" srcOrd="1" destOrd="0" presId="urn:microsoft.com/office/officeart/2005/8/layout/hProcess4"/>
    <dgm:cxn modelId="{D0E9ED41-ED43-45E6-817D-22C1B932BE9F}" type="presParOf" srcId="{2ACA4101-BE3D-47D8-8F54-9CDEA70D0C31}" destId="{145D709C-B18B-4EF7-9B5F-2EEFBBDA101B}" srcOrd="2" destOrd="0" presId="urn:microsoft.com/office/officeart/2005/8/layout/hProcess4"/>
    <dgm:cxn modelId="{BB590188-7B80-4DFE-B293-829D4CB26FF4}" type="presParOf" srcId="{2ACA4101-BE3D-47D8-8F54-9CDEA70D0C31}" destId="{A9029743-A182-4E82-BD43-E29402F1A314}" srcOrd="3" destOrd="0" presId="urn:microsoft.com/office/officeart/2005/8/layout/hProcess4"/>
    <dgm:cxn modelId="{58D01251-5400-4500-A8DE-C790E71E8F99}" type="presParOf" srcId="{2ACA4101-BE3D-47D8-8F54-9CDEA70D0C31}" destId="{C46E228C-8109-4916-83F3-F2ACA0691B18}" srcOrd="4" destOrd="0" presId="urn:microsoft.com/office/officeart/2005/8/layout/hProcess4"/>
    <dgm:cxn modelId="{CD10C102-63FD-4E75-B07E-30BFA2BA43B0}" type="presParOf" srcId="{A9723196-8830-4506-B8C1-C38F0F98748F}" destId="{65E19F40-C26C-4CCE-81B5-7796DC147A47}" srcOrd="3" destOrd="0" presId="urn:microsoft.com/office/officeart/2005/8/layout/hProcess4"/>
    <dgm:cxn modelId="{62DCB26C-92C8-4A0B-994C-D0A6C4024A09}" type="presParOf" srcId="{A9723196-8830-4506-B8C1-C38F0F98748F}" destId="{5CC3F296-C790-4992-BACE-5EC293C860A9}" srcOrd="4" destOrd="0" presId="urn:microsoft.com/office/officeart/2005/8/layout/hProcess4"/>
    <dgm:cxn modelId="{1F4C10CA-C78A-4635-97C9-B32A21584A91}" type="presParOf" srcId="{5CC3F296-C790-4992-BACE-5EC293C860A9}" destId="{938B63EF-07D9-4715-9B13-42E8B60795A5}" srcOrd="0" destOrd="0" presId="urn:microsoft.com/office/officeart/2005/8/layout/hProcess4"/>
    <dgm:cxn modelId="{C55A6648-7FCE-4395-8A23-A85EFAA6BE7C}" type="presParOf" srcId="{5CC3F296-C790-4992-BACE-5EC293C860A9}" destId="{9B2E058E-5A16-4753-9B94-F1C8877320DB}" srcOrd="1" destOrd="0" presId="urn:microsoft.com/office/officeart/2005/8/layout/hProcess4"/>
    <dgm:cxn modelId="{A85BECB6-8B65-4FE5-A760-74015FD01637}" type="presParOf" srcId="{5CC3F296-C790-4992-BACE-5EC293C860A9}" destId="{B31169DC-B4E9-4AA4-9F8C-5D8A77694AA8}" srcOrd="2" destOrd="0" presId="urn:microsoft.com/office/officeart/2005/8/layout/hProcess4"/>
    <dgm:cxn modelId="{6F59D8D7-D56B-4339-9672-AD7F128A3AF9}" type="presParOf" srcId="{5CC3F296-C790-4992-BACE-5EC293C860A9}" destId="{B8D986B5-6342-489D-9736-FD6B11FE7E0B}" srcOrd="3" destOrd="0" presId="urn:microsoft.com/office/officeart/2005/8/layout/hProcess4"/>
    <dgm:cxn modelId="{B7878EBB-E52E-46AC-9DBC-54D6551D9406}" type="presParOf" srcId="{5CC3F296-C790-4992-BACE-5EC293C860A9}" destId="{51BCD9F2-5ECD-43E2-BFFA-8838148DDF0C}" srcOrd="4" destOrd="0" presId="urn:microsoft.com/office/officeart/2005/8/layout/hProcess4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GitHub repository README and source tree, accessed 29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src/lib/auth.tsx; src/components/AppShell.tsx.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src/routes/portal.tsx; src/lib/auth.tsx.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src/routes/orders.tsx; src/routes/availability.tsx; src/routes/menu.tsx; src/routes/users.tsx; src/routes/dashboard.tsx.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package.json; src/lib/api-client.ts; src/lib/data.ts;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src/components/AppShell.tsx; src/lib/api-client.ts; src/lib/data.ts; src/routes/reports.tsx.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package.json; README.md; repository root reviewed on 29 September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Sources: src/lib/api-client.ts; src/lib/data.ts; package.json; README.md. Recommendations are clearly labelled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10/5/2026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A656995-3F81-47E0-9F68-86E0EEDFD1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286604"/>
          </a:xfrm>
          <a:prstGeom prst="rect">
            <a:avLst/>
          </a:prstGeom>
          <a:solidFill>
            <a:srgbClr val="102A43"/>
          </a:solidFill>
          <a:ln w="0">
            <a:solidFill>
              <a:srgbClr val="102A43"/>
            </a:solidFill>
            <a:prstDash val="solid"/>
          </a:ln>
        </p:spPr>
      </p:sp>
      <p:sp>
        <p:nvSpPr>
          <p:cNvPr id="2" name="Oval 1">
            <a:extLst>
              <a:ext uri="{FF2B5EF4-FFF2-40B4-BE49-F238E27FC236}">
                <a16:creationId xmlns:a16="http://schemas.microsoft.com/office/drawing/2014/main" xmlns="" id="{81C3569F-6B49-43C3-BA6D-2E48B1A9F2B1}"/>
              </a:ext>
            </a:extLst>
          </p:cNvPr>
          <p:cNvSpPr>
            <a:spLocks noGrp="1"/>
          </p:cNvSpPr>
          <p:nvPr/>
        </p:nvSpPr>
        <p:spPr>
          <a:xfrm>
            <a:off x="6167438" y="0"/>
            <a:ext cx="5810250" cy="5810250"/>
          </a:xfrm>
          <a:prstGeom prst="ellipse">
            <a:avLst/>
          </a:prstGeom>
          <a:solidFill>
            <a:srgbClr val="00A6A6"/>
          </a:solidFill>
          <a:ln w="0">
            <a:solidFill>
              <a:srgbClr val="00A6A6"/>
            </a:solidFill>
            <a:prstDash val="solid"/>
          </a:ln>
        </p:spPr>
      </p:sp>
      <p:sp>
        <p:nvSpPr>
          <p:cNvPr id="3" name="Oval 2">
            <a:extLst>
              <a:ext uri="{FF2B5EF4-FFF2-40B4-BE49-F238E27FC236}">
                <a16:creationId xmlns:a16="http://schemas.microsoft.com/office/drawing/2014/main" xmlns="" id="{0C58F261-C72E-4CB8-A2CE-D70FF43F15D3}"/>
              </a:ext>
            </a:extLst>
          </p:cNvPr>
          <p:cNvSpPr>
            <a:spLocks noGrp="1"/>
          </p:cNvSpPr>
          <p:nvPr/>
        </p:nvSpPr>
        <p:spPr>
          <a:xfrm>
            <a:off x="8096264" y="2857496"/>
            <a:ext cx="3714750" cy="371475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 w="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B45C536-A277-4CC9-823F-367116236186}"/>
              </a:ext>
            </a:extLst>
          </p:cNvPr>
          <p:cNvSpPr>
            <a:spLocks noGrp="1"/>
          </p:cNvSpPr>
          <p:nvPr/>
        </p:nvSpPr>
        <p:spPr>
          <a:xfrm>
            <a:off x="838200" y="838200"/>
            <a:ext cx="3905250" cy="51909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defRPr sz="1200" b="1">
                <a:solidFill>
                  <a:srgbClr val="F6BD60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chemeClr val="accent1"/>
                </a:solidFill>
                <a:latin typeface="Arial"/>
                <a:ea typeface="Arial"/>
                <a:cs typeface="Arial"/>
              </a:rPr>
              <a:t>STACKEDHUB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DF662F4-975F-45DC-A6F7-CEF2D604DF32}"/>
              </a:ext>
            </a:extLst>
          </p:cNvPr>
          <p:cNvSpPr>
            <a:spLocks noGrp="1"/>
          </p:cNvSpPr>
          <p:nvPr/>
        </p:nvSpPr>
        <p:spPr>
          <a:xfrm>
            <a:off x="838200" y="1428751"/>
            <a:ext cx="4829172" cy="7858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Restaurant operations</a:t>
            </a:r>
          </a:p>
          <a:p>
            <a:pPr algn="l"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customer engagement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E06D4527-4D47-4B92-B591-E87BE587ACEA}"/>
              </a:ext>
            </a:extLst>
          </p:cNvPr>
          <p:cNvSpPr>
            <a:spLocks noGrp="1"/>
          </p:cNvSpPr>
          <p:nvPr/>
        </p:nvSpPr>
        <p:spPr>
          <a:xfrm>
            <a:off x="876300" y="315277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167" lnSpcReduction="20000"/>
          </a:bodyPr>
          <a:lstStyle/>
          <a:p>
            <a:pPr algn="l">
              <a:defRPr sz="15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Application </a:t>
            </a:r>
            <a:r>
              <a:rPr sz="1500" b="0" smtClean="0">
                <a:solidFill>
                  <a:srgbClr val="D9E2EC"/>
                </a:solidFill>
                <a:latin typeface="Arial"/>
                <a:ea typeface="Arial"/>
                <a:cs typeface="Arial"/>
              </a:rPr>
              <a:t>overview</a:t>
            </a:r>
            <a:endParaRPr sz="1500" b="0">
              <a:solidFill>
                <a:srgbClr val="D9E2E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166AFF60-DFE9-488D-B312-9BA08EDC7267}"/>
              </a:ext>
            </a:extLst>
          </p:cNvPr>
          <p:cNvSpPr>
            <a:spLocks noGrp="1"/>
          </p:cNvSpPr>
          <p:nvPr/>
        </p:nvSpPr>
        <p:spPr>
          <a:xfrm>
            <a:off x="876300" y="3667124"/>
            <a:ext cx="6191250" cy="13335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l">
              <a:buFont typeface="Wingdings" pitchFamily="2" charset="2"/>
              <a:buChar char="§"/>
              <a:defRPr sz="11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Overview</a:t>
            </a:r>
          </a:p>
          <a:p>
            <a:pPr algn="l">
              <a:buFont typeface="Wingdings" pitchFamily="2" charset="2"/>
              <a:buChar char="§"/>
              <a:defRPr sz="11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lang="en-US" sz="1600" b="0" dirty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Product/solution</a:t>
            </a:r>
            <a:endParaRPr lang="en-US" sz="1600" b="0" dirty="0" smtClean="0">
              <a:solidFill>
                <a:srgbClr val="BCCCDC"/>
              </a:solidFill>
              <a:latin typeface="Arial"/>
              <a:ea typeface="Arial"/>
              <a:cs typeface="Arial"/>
            </a:endParaRPr>
          </a:p>
          <a:p>
            <a:pPr algn="l">
              <a:buFont typeface="Wingdings" pitchFamily="2" charset="2"/>
              <a:buChar char="§"/>
              <a:defRPr sz="11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600" b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Frontend </a:t>
            </a:r>
            <a:r>
              <a:rPr sz="160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architecture </a:t>
            </a:r>
            <a:endParaRPr lang="en-US" sz="1600" b="0" dirty="0" smtClean="0">
              <a:solidFill>
                <a:srgbClr val="BCCCDC"/>
              </a:solidFill>
              <a:latin typeface="Arial"/>
              <a:ea typeface="Arial"/>
              <a:cs typeface="Arial"/>
            </a:endParaRPr>
          </a:p>
          <a:p>
            <a:pPr algn="l">
              <a:buFont typeface="Wingdings" pitchFamily="2" charset="2"/>
              <a:buChar char="§"/>
              <a:defRPr sz="11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600" b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user workflows</a:t>
            </a:r>
            <a:endParaRPr lang="en-US" sz="1600" b="0" dirty="0" smtClean="0">
              <a:solidFill>
                <a:srgbClr val="BCCCDC"/>
              </a:solidFill>
              <a:latin typeface="Arial"/>
              <a:ea typeface="Arial"/>
              <a:cs typeface="Arial"/>
            </a:endParaRPr>
          </a:p>
          <a:p>
            <a:pPr algn="l">
              <a:buFont typeface="Wingdings" pitchFamily="2" charset="2"/>
              <a:buChar char="§"/>
              <a:defRPr sz="11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600" b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 quality </a:t>
            </a:r>
            <a:r>
              <a:rPr sz="160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and delivery </a:t>
            </a:r>
            <a:r>
              <a:rPr sz="1600" b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considerations</a:t>
            </a:r>
            <a:endParaRPr lang="en-US" sz="1600" b="0" dirty="0" smtClean="0">
              <a:solidFill>
                <a:srgbClr val="BCCCDC"/>
              </a:solidFill>
              <a:latin typeface="Arial"/>
              <a:ea typeface="Arial"/>
              <a:cs typeface="Arial"/>
            </a:endParaRPr>
          </a:p>
          <a:p>
            <a:pPr algn="l">
              <a:buFont typeface="Wingdings" pitchFamily="2" charset="2"/>
              <a:buChar char="§"/>
              <a:defRPr sz="1125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lang="en-US" sz="1600" dirty="0" smtClean="0">
                <a:solidFill>
                  <a:srgbClr val="BCCCDC"/>
                </a:solidFill>
                <a:latin typeface="Arial"/>
                <a:ea typeface="Arial"/>
                <a:cs typeface="Arial"/>
              </a:rPr>
              <a:t>Endnotes</a:t>
            </a:r>
            <a:endParaRPr sz="1600" b="0">
              <a:solidFill>
                <a:srgbClr val="BCCCD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503E1196-B5C1-4C13-8437-C2BBF2EF805C}"/>
              </a:ext>
            </a:extLst>
          </p:cNvPr>
          <p:cNvSpPr>
            <a:spLocks noGrp="1"/>
          </p:cNvSpPr>
          <p:nvPr/>
        </p:nvSpPr>
        <p:spPr>
          <a:xfrm>
            <a:off x="876300" y="5657850"/>
            <a:ext cx="4572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976" lnSpcReduction="10000"/>
          </a:bodyPr>
          <a:lstStyle/>
          <a:p>
            <a:pPr algn="l">
              <a:defRPr sz="1050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Repository reviewed: MolokommeLefa/stackedhubgo</a:t>
            </a:r>
          </a:p>
          <a:p>
            <a:pPr algn="l">
              <a:defRPr sz="1050" b="0">
                <a:solidFill>
                  <a:srgbClr val="BCCCDC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CCCDC"/>
                </a:solidFill>
                <a:latin typeface="Arial"/>
                <a:ea typeface="Arial"/>
                <a:cs typeface="Arial"/>
              </a:rPr>
              <a:t>29 September 2026</a:t>
            </a:r>
          </a:p>
        </p:txBody>
      </p:sp>
    </p:spTree>
    <p:extLst>
      <p:ext uri="{BB962C8B-B14F-4D97-AF65-F5344CB8AC3E}">
        <p14:creationId xmlns:p14="http://schemas.microsoft.com/office/powerpoint/2010/main" xmlns="" val="31699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6646" y="642918"/>
            <a:ext cx="24709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The Problem: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8084" y="1643050"/>
            <a:ext cx="11150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BruvBurger</a:t>
            </a:r>
            <a:r>
              <a:rPr lang="en-US" dirty="0" smtClean="0"/>
              <a:t> now </a:t>
            </a:r>
            <a:r>
              <a:rPr lang="en-US" dirty="0" err="1" smtClean="0"/>
              <a:t>formarly</a:t>
            </a:r>
            <a:r>
              <a:rPr lang="en-US" dirty="0" smtClean="0"/>
              <a:t> know as </a:t>
            </a:r>
            <a:r>
              <a:rPr lang="en-US" dirty="0" err="1" smtClean="0"/>
              <a:t>StackedBurgers</a:t>
            </a:r>
            <a:r>
              <a:rPr lang="en-US" dirty="0" smtClean="0"/>
              <a:t> is a growing business with an established</a:t>
            </a:r>
          </a:p>
          <a:p>
            <a:r>
              <a:rPr lang="en-US" dirty="0" smtClean="0"/>
              <a:t>Customer base through </a:t>
            </a:r>
            <a:r>
              <a:rPr lang="en-US" dirty="0" err="1" smtClean="0"/>
              <a:t>instagram</a:t>
            </a:r>
            <a:r>
              <a:rPr lang="en-US" dirty="0" smtClean="0"/>
              <a:t>, </a:t>
            </a:r>
            <a:r>
              <a:rPr lang="en-US" dirty="0" err="1" smtClean="0"/>
              <a:t>whatsapp</a:t>
            </a:r>
            <a:r>
              <a:rPr lang="en-US" dirty="0" smtClean="0"/>
              <a:t> </a:t>
            </a:r>
            <a:r>
              <a:rPr lang="en-US" dirty="0" smtClean="0"/>
              <a:t>and phone calls as well as their integration of </a:t>
            </a:r>
            <a:r>
              <a:rPr lang="en-US" dirty="0" err="1" smtClean="0"/>
              <a:t>uber</a:t>
            </a:r>
            <a:r>
              <a:rPr lang="en-US" dirty="0" smtClean="0"/>
              <a:t> eats. However </a:t>
            </a:r>
          </a:p>
          <a:p>
            <a:r>
              <a:rPr lang="en-US" dirty="0" smtClean="0"/>
              <a:t>A major challenge they face is their lack of digital operations that seamlessly integrate their current </a:t>
            </a:r>
            <a:r>
              <a:rPr lang="en-US" dirty="0" err="1" smtClean="0"/>
              <a:t>processses</a:t>
            </a:r>
            <a:r>
              <a:rPr lang="en-US" dirty="0" smtClean="0"/>
              <a:t>. 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80960" y="2857496"/>
            <a:ext cx="117338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makes </a:t>
            </a:r>
            <a:r>
              <a:rPr lang="en-US" dirty="0" err="1" smtClean="0"/>
              <a:t>BruvBurger</a:t>
            </a:r>
            <a:r>
              <a:rPr lang="en-US" dirty="0" smtClean="0"/>
              <a:t> fall behind on the digital innovation that would help grow their operations drastically.</a:t>
            </a:r>
          </a:p>
          <a:p>
            <a:r>
              <a:rPr lang="en-US" dirty="0" smtClean="0"/>
              <a:t>As technology continues to grow, </a:t>
            </a:r>
            <a:r>
              <a:rPr lang="en-US" dirty="0" err="1" smtClean="0"/>
              <a:t>bruvBurger</a:t>
            </a:r>
            <a:r>
              <a:rPr lang="en-US" dirty="0" smtClean="0"/>
              <a:t> may lose the opportunity to enhance their customer base if they do not </a:t>
            </a:r>
            <a:endParaRPr lang="en-US" dirty="0" smtClean="0"/>
          </a:p>
          <a:p>
            <a:r>
              <a:rPr lang="en-US" dirty="0" smtClean="0"/>
              <a:t>Implement some kind of digital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522" y="3786190"/>
            <a:ext cx="115332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presents an opportunity for us to design and develop a modern software solution that improves their business </a:t>
            </a:r>
          </a:p>
          <a:p>
            <a:r>
              <a:rPr lang="en-US" dirty="0" smtClean="0"/>
              <a:t>Operations whilst meeting all INSY7315 work-integrated learning technical requirements.</a:t>
            </a:r>
          </a:p>
          <a:p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0776" y="2500306"/>
            <a:ext cx="2214578" cy="1357322"/>
          </a:xfrm>
        </p:spPr>
        <p:txBody>
          <a:bodyPr>
            <a:normAutofit fontScale="90000"/>
          </a:bodyPr>
          <a:lstStyle/>
          <a:p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Full stack customer management system:</a:t>
            </a:r>
            <a:b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/>
            </a:r>
            <a:b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Admin Dashboard</a:t>
            </a:r>
            <a:b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Customer Portal</a:t>
            </a:r>
            <a:b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</a:br>
            <a:r>
              <a:rPr lang="en-US" sz="1600" b="1" dirty="0" smtClean="0">
                <a:solidFill>
                  <a:schemeClr val="accent1">
                    <a:lumMod val="50000"/>
                  </a:schemeClr>
                </a:solidFill>
              </a:rPr>
              <a:t>Staff Portal</a:t>
            </a:r>
            <a:endParaRPr lang="en-US" sz="1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0960" y="1785926"/>
            <a:ext cx="9155667" cy="4389437"/>
          </a:xfrm>
          <a:prstGeom prst="rect">
            <a:avLst/>
          </a:prstGeom>
          <a:ln cap="rnd">
            <a:round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6" name="Title 1"/>
          <p:cNvSpPr txBox="1">
            <a:spLocks/>
          </p:cNvSpPr>
          <p:nvPr/>
        </p:nvSpPr>
        <p:spPr>
          <a:xfrm>
            <a:off x="523836" y="642918"/>
            <a:ext cx="10972800" cy="1081838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The </a:t>
            </a:r>
            <a:r>
              <a:rPr kumimoji="0" lang="en-US" sz="5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Product/solution:</a:t>
            </a:r>
            <a:endParaRPr kumimoji="0" lang="en-US" sz="5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5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960" y="428604"/>
            <a:ext cx="10972800" cy="1143000"/>
          </a:xfrm>
        </p:spPr>
        <p:txBody>
          <a:bodyPr>
            <a:normAutofit/>
          </a:bodyPr>
          <a:lstStyle/>
          <a:p>
            <a:r>
              <a:rPr lang="en-US" sz="3600" b="1" dirty="0" smtClean="0"/>
              <a:t>One Platform, three types of users</a:t>
            </a:r>
            <a:endParaRPr lang="en-US" sz="3600" b="1" dirty="0"/>
          </a:p>
        </p:txBody>
      </p:sp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18167" y="1935164"/>
            <a:ext cx="7506792" cy="3598928"/>
          </a:xfrm>
          <a:prstGeom prst="rect">
            <a:avLst/>
          </a:prstGeom>
          <a:ln cap="rnd">
            <a:round/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pic>
      <p:sp>
        <p:nvSpPr>
          <p:cNvPr id="5" name="TextBox 4"/>
          <p:cNvSpPr txBox="1"/>
          <p:nvPr/>
        </p:nvSpPr>
        <p:spPr>
          <a:xfrm>
            <a:off x="1595406" y="5715016"/>
            <a:ext cx="76488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 smtClean="0">
                <a:solidFill>
                  <a:schemeClr val="tx2"/>
                </a:solidFill>
              </a:rPr>
              <a:t>StackedHub</a:t>
            </a:r>
            <a:r>
              <a:rPr lang="en-US" sz="1200" b="1" dirty="0" smtClean="0">
                <a:solidFill>
                  <a:schemeClr val="tx2"/>
                </a:solidFill>
              </a:rPr>
              <a:t> </a:t>
            </a:r>
            <a:r>
              <a:rPr lang="en-US" sz="1200" b="1" dirty="0" err="1" smtClean="0">
                <a:solidFill>
                  <a:schemeClr val="tx2"/>
                </a:solidFill>
              </a:rPr>
              <a:t>isnt</a:t>
            </a:r>
            <a:r>
              <a:rPr lang="en-US" sz="1200" b="1" dirty="0" smtClean="0">
                <a:solidFill>
                  <a:schemeClr val="tx2"/>
                </a:solidFill>
              </a:rPr>
              <a:t> just another application, it’s platform that connects  customers, staff and admin in one</a:t>
            </a:r>
          </a:p>
          <a:p>
            <a:r>
              <a:rPr lang="en-US" sz="1200" b="1" dirty="0" smtClean="0">
                <a:solidFill>
                  <a:schemeClr val="tx2"/>
                </a:solidFill>
              </a:rPr>
              <a:t>Seamless platform. No more switching between different disconnected tools.</a:t>
            </a:r>
            <a:endParaRPr lang="en-US" sz="12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45FFDEA5-E016-4A96-9DDB-398112C10A21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What StackedHub does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4231748-7462-441F-9013-AE0BE48519E9}"/>
              </a:ext>
            </a:extLst>
          </p:cNvPr>
          <p:cNvSpPr>
            <a:spLocks noGrp="1"/>
          </p:cNvSpPr>
          <p:nvPr/>
        </p:nvSpPr>
        <p:spPr>
          <a:xfrm>
            <a:off x="704850" y="923925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A restaurant-management frontend with separate customer, staff and administrator experiences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2A1177EE-EA50-472A-B379-5B0847CF756A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323850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63285CC8-ED52-40A2-90CC-FAC829278B4A}"/>
              </a:ext>
            </a:extLst>
          </p:cNvPr>
          <p:cNvSpPr>
            <a:spLocks noGrp="1"/>
          </p:cNvSpPr>
          <p:nvPr/>
        </p:nvSpPr>
        <p:spPr>
          <a:xfrm>
            <a:off x="857250" y="177165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288" lnSpcReduction="10000"/>
          </a:bodyPr>
          <a:lstStyle/>
          <a:p>
            <a:pPr algn="l">
              <a:defRPr sz="8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CUSTOMER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701711A-5B0E-4EFE-B24E-ED9538FC9687}"/>
              </a:ext>
            </a:extLst>
          </p:cNvPr>
          <p:cNvSpPr>
            <a:spLocks noGrp="1"/>
          </p:cNvSpPr>
          <p:nvPr/>
        </p:nvSpPr>
        <p:spPr>
          <a:xfrm>
            <a:off x="857250" y="2028825"/>
            <a:ext cx="28956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Browse the menu, build an order, view order history, see loyalty points and request AI meal suggestions.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53C1E9D4-7C15-4A01-AF2A-767DCD1575E2}"/>
              </a:ext>
            </a:extLst>
          </p:cNvPr>
          <p:cNvSpPr>
            <a:spLocks noGrp="1"/>
          </p:cNvSpPr>
          <p:nvPr/>
        </p:nvSpPr>
        <p:spPr>
          <a:xfrm>
            <a:off x="4476750" y="1619250"/>
            <a:ext cx="323850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320E35AF-116D-4D2A-B7E8-19A9574AFE08}"/>
              </a:ext>
            </a:extLst>
          </p:cNvPr>
          <p:cNvSpPr>
            <a:spLocks noGrp="1"/>
          </p:cNvSpPr>
          <p:nvPr/>
        </p:nvSpPr>
        <p:spPr>
          <a:xfrm>
            <a:off x="4648200" y="177165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288" lnSpcReduction="10000"/>
          </a:bodyPr>
          <a:lstStyle/>
          <a:p>
            <a:pPr algn="l">
              <a:defRPr sz="8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STAFF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6FC5E761-814F-4627-A8ED-E7B4808D4358}"/>
              </a:ext>
            </a:extLst>
          </p:cNvPr>
          <p:cNvSpPr>
            <a:spLocks noGrp="1"/>
          </p:cNvSpPr>
          <p:nvPr/>
        </p:nvSpPr>
        <p:spPr>
          <a:xfrm>
            <a:off x="4648200" y="2028825"/>
            <a:ext cx="28956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Monitor the live order queue, move orders through the kitchen lifecycle and change item availability.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1E8B971A-FA9D-49EF-B13C-66AD507D8DD8}"/>
              </a:ext>
            </a:extLst>
          </p:cNvPr>
          <p:cNvSpPr>
            <a:spLocks noGrp="1"/>
          </p:cNvSpPr>
          <p:nvPr/>
        </p:nvSpPr>
        <p:spPr>
          <a:xfrm>
            <a:off x="8267700" y="1619250"/>
            <a:ext cx="323850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82BA0F5A-3462-4F08-8316-E44A5DCB5391}"/>
              </a:ext>
            </a:extLst>
          </p:cNvPr>
          <p:cNvSpPr>
            <a:spLocks noGrp="1"/>
          </p:cNvSpPr>
          <p:nvPr/>
        </p:nvSpPr>
        <p:spPr>
          <a:xfrm>
            <a:off x="8439150" y="1771650"/>
            <a:ext cx="28956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288" lnSpcReduction="10000"/>
          </a:bodyPr>
          <a:lstStyle/>
          <a:p>
            <a:pPr algn="l">
              <a:defRPr sz="825" b="1">
                <a:solidFill>
                  <a:srgbClr val="F071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7167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67D62F8-3056-4277-A059-42ED636CCE10}"/>
              </a:ext>
            </a:extLst>
          </p:cNvPr>
          <p:cNvSpPr>
            <a:spLocks noGrp="1"/>
          </p:cNvSpPr>
          <p:nvPr/>
        </p:nvSpPr>
        <p:spPr>
          <a:xfrm>
            <a:off x="8439150" y="2028825"/>
            <a:ext cx="2895600" cy="1943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Manage menu items, users, promotions, customer records, reports and audit logs.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21396912-A570-4162-878D-DB16E4B0F409}"/>
              </a:ext>
            </a:extLst>
          </p:cNvPr>
          <p:cNvSpPr>
            <a:spLocks noGrp="1"/>
          </p:cNvSpPr>
          <p:nvPr/>
        </p:nvSpPr>
        <p:spPr>
          <a:xfrm>
            <a:off x="1714500" y="4686300"/>
            <a:ext cx="876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167" lnSpcReduction="20000"/>
          </a:bodyPr>
          <a:lstStyle/>
          <a:p>
            <a:pPr algn="ctr">
              <a:defRPr sz="15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UI routes users to the customer portal or operational dashboard according to their signed-in role.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4C30ED59-EDF7-46B4-B25D-EDF4D5C9BFD1}"/>
              </a:ext>
            </a:extLst>
          </p:cNvPr>
          <p:cNvSpPr>
            <a:spLocks noGrp="1"/>
          </p:cNvSpPr>
          <p:nvPr/>
        </p:nvSpPr>
        <p:spPr>
          <a:xfrm>
            <a:off x="3333750" y="5143500"/>
            <a:ext cx="5524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3889" lnSpcReduction="20000"/>
          </a:bodyPr>
          <a:lstStyle/>
          <a:p>
            <a:pPr algn="ctr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lang="en-US" sz="1125" dirty="0" smtClean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Connects customers, staff and admin in one simple integrated system</a:t>
            </a:r>
            <a:endParaRPr sz="1125" b="0">
              <a:solidFill>
                <a:srgbClr val="627D9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B98A49B-093B-45A6-AEF5-05AFE044C2B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5A34552B-F974-4ED1-A842-2040E88FF06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xmlns="" val="19045742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960" y="571480"/>
            <a:ext cx="181197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smtClean="0">
                <a:solidFill>
                  <a:schemeClr val="tx2"/>
                </a:solidFill>
              </a:rPr>
              <a:t>The Flow:</a:t>
            </a:r>
          </a:p>
          <a:p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0960" y="1142984"/>
            <a:ext cx="48812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 smtClean="0">
                <a:solidFill>
                  <a:schemeClr val="accent1"/>
                </a:solidFill>
              </a:rPr>
              <a:t>StackedHub</a:t>
            </a:r>
            <a:r>
              <a:rPr lang="en-US" b="1" dirty="0" smtClean="0">
                <a:solidFill>
                  <a:schemeClr val="accent1"/>
                </a:solidFill>
              </a:rPr>
              <a:t> is built around three personas:</a:t>
            </a:r>
          </a:p>
          <a:p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3836" y="2285992"/>
            <a:ext cx="1313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Customer: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10116" y="2285992"/>
            <a:ext cx="7523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Staff:</a:t>
            </a:r>
            <a:endParaRPr lang="en-US" b="1" dirty="0">
              <a:solidFill>
                <a:schemeClr val="accent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96396" y="2285992"/>
            <a:ext cx="986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chemeClr val="accent1"/>
                </a:solidFill>
              </a:rPr>
              <a:t>Admin:</a:t>
            </a:r>
            <a:endParaRPr lang="en-US" b="1" dirty="0">
              <a:solidFill>
                <a:schemeClr val="accent1"/>
              </a:solidFill>
            </a:endParaRPr>
          </a:p>
        </p:txBody>
      </p:sp>
      <p:graphicFrame>
        <p:nvGraphicFramePr>
          <p:cNvPr id="7" name="Diagram 6"/>
          <p:cNvGraphicFramePr/>
          <p:nvPr/>
        </p:nvGraphicFramePr>
        <p:xfrm>
          <a:off x="2166910" y="2928934"/>
          <a:ext cx="6564330" cy="3209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9" name="Straight Arrow Connector 8"/>
          <p:cNvCxnSpPr/>
          <p:nvPr/>
        </p:nvCxnSpPr>
        <p:spPr>
          <a:xfrm rot="16200000" flipV="1">
            <a:off x="773869" y="3107529"/>
            <a:ext cx="1571636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endCxn id="5" idx="2"/>
          </p:cNvCxnSpPr>
          <p:nvPr/>
        </p:nvCxnSpPr>
        <p:spPr>
          <a:xfrm rot="16200000" flipV="1">
            <a:off x="4897127" y="2944506"/>
            <a:ext cx="630800" cy="5243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5400000" flipH="1" flipV="1">
            <a:off x="8310578" y="3214686"/>
            <a:ext cx="1785950" cy="78581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8EEC7409-9F5A-46E2-A121-5DA747E8462C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 journey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207C54FA-6AB2-40F1-A09C-3BC3750A69B9}"/>
              </a:ext>
            </a:extLst>
          </p:cNvPr>
          <p:cNvSpPr>
            <a:spLocks noGrp="1"/>
          </p:cNvSpPr>
          <p:nvPr/>
        </p:nvSpPr>
        <p:spPr>
          <a:xfrm>
            <a:off x="704850" y="923925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portal supports ordering, loyalty engagement and personalised menu discovery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849F9971-CCA8-4395-9627-2C87B033117A}"/>
              </a:ext>
            </a:extLst>
          </p:cNvPr>
          <p:cNvSpPr>
            <a:spLocks noGrp="1"/>
          </p:cNvSpPr>
          <p:nvPr/>
        </p:nvSpPr>
        <p:spPr>
          <a:xfrm>
            <a:off x="981075" y="161925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E8F4F8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52D0ABF5-D3D7-4979-B1BC-8A8E86D64592}"/>
              </a:ext>
            </a:extLst>
          </p:cNvPr>
          <p:cNvSpPr>
            <a:spLocks noGrp="1"/>
          </p:cNvSpPr>
          <p:nvPr/>
        </p:nvSpPr>
        <p:spPr>
          <a:xfrm>
            <a:off x="1152525" y="179070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ECC1E04-2487-4EF4-9D99-23B324E4C714}"/>
              </a:ext>
            </a:extLst>
          </p:cNvPr>
          <p:cNvSpPr>
            <a:spLocks noGrp="1"/>
          </p:cNvSpPr>
          <p:nvPr/>
        </p:nvSpPr>
        <p:spPr>
          <a:xfrm>
            <a:off x="1152525" y="206692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Customer role opens /portal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873BCB38-2D50-403F-A0C7-43BF0AC79ADF}"/>
              </a:ext>
            </a:extLst>
          </p:cNvPr>
          <p:cNvSpPr>
            <a:spLocks noGrp="1"/>
          </p:cNvSpPr>
          <p:nvPr/>
        </p:nvSpPr>
        <p:spPr>
          <a:xfrm>
            <a:off x="3400425" y="161925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2913DA-EEA7-4449-8671-16C3218C9D96}"/>
              </a:ext>
            </a:extLst>
          </p:cNvPr>
          <p:cNvSpPr>
            <a:spLocks noGrp="1"/>
          </p:cNvSpPr>
          <p:nvPr/>
        </p:nvSpPr>
        <p:spPr>
          <a:xfrm>
            <a:off x="3571875" y="179070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Choose items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78B1D294-ADD4-4BD1-8C6C-2EC19C79D069}"/>
              </a:ext>
            </a:extLst>
          </p:cNvPr>
          <p:cNvSpPr>
            <a:spLocks noGrp="1"/>
          </p:cNvSpPr>
          <p:nvPr/>
        </p:nvSpPr>
        <p:spPr>
          <a:xfrm>
            <a:off x="3571875" y="206692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9295" lnSpcReduction="20000"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Menu displays available items and prices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EF90F33B-E3D2-410A-AFA6-1D4C1AFC1DE9}"/>
              </a:ext>
            </a:extLst>
          </p:cNvPr>
          <p:cNvSpPr>
            <a:spLocks noGrp="1"/>
          </p:cNvSpPr>
          <p:nvPr/>
        </p:nvSpPr>
        <p:spPr>
          <a:xfrm>
            <a:off x="5819775" y="161925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E3DD791-E936-4547-820D-3670E94928F7}"/>
              </a:ext>
            </a:extLst>
          </p:cNvPr>
          <p:cNvSpPr>
            <a:spLocks noGrp="1"/>
          </p:cNvSpPr>
          <p:nvPr/>
        </p:nvSpPr>
        <p:spPr>
          <a:xfrm>
            <a:off x="5991225" y="179070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Ask for a meal idea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E7E02690-7E42-439E-8D0B-6BA5D9CF8931}"/>
              </a:ext>
            </a:extLst>
          </p:cNvPr>
          <p:cNvSpPr>
            <a:spLocks noGrp="1"/>
          </p:cNvSpPr>
          <p:nvPr/>
        </p:nvSpPr>
        <p:spPr>
          <a:xfrm>
            <a:off x="5991225" y="206692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1795" lnSpcReduction="20000"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Prompt goes to the recommendation service or demo fallback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60573969-1385-43F2-AC90-24ADA1D027AA}"/>
              </a:ext>
            </a:extLst>
          </p:cNvPr>
          <p:cNvSpPr>
            <a:spLocks noGrp="1"/>
          </p:cNvSpPr>
          <p:nvPr/>
        </p:nvSpPr>
        <p:spPr>
          <a:xfrm>
            <a:off x="8239125" y="161925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0F433837-B479-4049-B5C2-8B62E3C2C852}"/>
              </a:ext>
            </a:extLst>
          </p:cNvPr>
          <p:cNvSpPr>
            <a:spLocks noGrp="1"/>
          </p:cNvSpPr>
          <p:nvPr/>
        </p:nvSpPr>
        <p:spPr>
          <a:xfrm>
            <a:off x="8410575" y="179070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Place and track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308F978C-4C6B-4356-B4B6-E8112976F1A8}"/>
              </a:ext>
            </a:extLst>
          </p:cNvPr>
          <p:cNvSpPr>
            <a:spLocks noGrp="1"/>
          </p:cNvSpPr>
          <p:nvPr/>
        </p:nvSpPr>
        <p:spPr>
          <a:xfrm>
            <a:off x="8410575" y="206692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9295" lnSpcReduction="20000"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Cart confirms placement and order history shows status</a:t>
            </a:r>
          </a:p>
        </p:txBody>
      </p:sp>
      <p:cxnSp>
        <p:nvCxnSpPr>
          <p:cNvPr id="39" name="Straight Arrow Connector 38"/>
          <p:cNvCxnSpPr>
            <a:stCxn id="3" idx="3"/>
            <a:endCxn id="6" idx="1"/>
          </p:cNvCxnSpPr>
          <p:nvPr/>
        </p:nvCxnSpPr>
        <p:spPr>
          <a:xfrm>
            <a:off x="3076575" y="2085975"/>
            <a:ext cx="3238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cxnSp>
        <p:nvCxnSpPr>
          <p:cNvPr id="40" name="Straight Arrow Connector 39"/>
          <p:cNvCxnSpPr>
            <a:stCxn id="6" idx="3"/>
            <a:endCxn id="9" idx="1"/>
          </p:cNvCxnSpPr>
          <p:nvPr/>
        </p:nvCxnSpPr>
        <p:spPr>
          <a:xfrm>
            <a:off x="5495925" y="2085975"/>
            <a:ext cx="3238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cxnSp>
        <p:nvCxnSpPr>
          <p:cNvPr id="41" name="Straight Arrow Connector 40"/>
          <p:cNvCxnSpPr>
            <a:stCxn id="9" idx="3"/>
            <a:endCxn id="12" idx="1"/>
          </p:cNvCxnSpPr>
          <p:nvPr/>
        </p:nvCxnSpPr>
        <p:spPr>
          <a:xfrm>
            <a:off x="7915275" y="2085975"/>
            <a:ext cx="3238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C150BF6-AE36-4A76-B0F9-7597ADE88CFC}"/>
              </a:ext>
            </a:extLst>
          </p:cNvPr>
          <p:cNvSpPr>
            <a:spLocks noGrp="1"/>
          </p:cNvSpPr>
          <p:nvPr/>
        </p:nvSpPr>
        <p:spPr>
          <a:xfrm>
            <a:off x="838200" y="33337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697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AI meal assistant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8DB84C76-7C46-40C6-88DC-463586EFE53D}"/>
              </a:ext>
            </a:extLst>
          </p:cNvPr>
          <p:cNvSpPr>
            <a:spLocks noGrp="1"/>
          </p:cNvSpPr>
          <p:nvPr/>
        </p:nvSpPr>
        <p:spPr>
          <a:xfrm>
            <a:off x="838200" y="3714750"/>
            <a:ext cx="504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In live API mode, the portal posts the customer prompt to /api/ai/recommendations. Demo mode selects from the available menu using simple prompt matching.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xmlns="" id="{8B97C60A-5F3C-4130-964D-8DC648D1EAFB}"/>
              </a:ext>
            </a:extLst>
          </p:cNvPr>
          <p:cNvSpPr>
            <a:spLocks noGrp="1"/>
          </p:cNvSpPr>
          <p:nvPr/>
        </p:nvSpPr>
        <p:spPr>
          <a:xfrm>
            <a:off x="6648450" y="3257550"/>
            <a:ext cx="4743450" cy="1562100"/>
          </a:xfrm>
          <a:prstGeom prst="roundRect">
            <a:avLst>
              <a:gd name="adj" fmla="val 9756"/>
            </a:avLst>
          </a:prstGeom>
          <a:solidFill>
            <a:srgbClr val="E8F4F8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9572568A-D335-4CE8-8237-42C9175F1E5D}"/>
              </a:ext>
            </a:extLst>
          </p:cNvPr>
          <p:cNvSpPr>
            <a:spLocks noGrp="1"/>
          </p:cNvSpPr>
          <p:nvPr/>
        </p:nvSpPr>
        <p:spPr>
          <a:xfrm>
            <a:off x="6934200" y="3524250"/>
            <a:ext cx="3905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930" lnSpcReduction="20000"/>
          </a:bodyPr>
          <a:lstStyle/>
          <a:p>
            <a:pPr algn="l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Customer-facing features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5A8E04D0-71F2-4737-9F38-DEE143EFDF58}"/>
              </a:ext>
            </a:extLst>
          </p:cNvPr>
          <p:cNvSpPr>
            <a:spLocks noGrp="1"/>
          </p:cNvSpPr>
          <p:nvPr/>
        </p:nvSpPr>
        <p:spPr>
          <a:xfrm>
            <a:off x="6934200" y="39052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271"/>
          </a:bodyPr>
          <a:lstStyle/>
          <a:p>
            <a:pPr algn="l">
              <a:defRPr sz="12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Loyalty point balance and offer count</a:t>
            </a:r>
          </a:p>
          <a:p>
            <a:pPr algn="l">
              <a:defRPr sz="12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Add and remove cart items</a:t>
            </a:r>
          </a:p>
          <a:p>
            <a:pPr algn="l">
              <a:defRPr sz="12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Order confirmation and status history</a:t>
            </a:r>
          </a:p>
          <a:p>
            <a:pPr algn="l">
              <a:defRPr sz="120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Suggestions can be added to the order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17428699-AF2E-4CBE-B69A-17BB3D5C69F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BC07082F-E358-4406-BE25-6E0392ED7840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xmlns="" val="164605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960" y="785794"/>
            <a:ext cx="2874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Product Overview:</a:t>
            </a:r>
            <a:endParaRPr lang="en-US" sz="2400" b="1" dirty="0">
              <a:solidFill>
                <a:schemeClr val="tx2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36" y="1714488"/>
            <a:ext cx="7832707" cy="3756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Arc 4"/>
          <p:cNvSpPr/>
          <p:nvPr/>
        </p:nvSpPr>
        <p:spPr>
          <a:xfrm>
            <a:off x="6953256" y="2143116"/>
            <a:ext cx="2928958" cy="100013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525024" y="2857496"/>
            <a:ext cx="17886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Staff Dashboard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960" y="785794"/>
            <a:ext cx="2874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Product Overview: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5" name="Arc 4"/>
          <p:cNvSpPr/>
          <p:nvPr/>
        </p:nvSpPr>
        <p:spPr>
          <a:xfrm>
            <a:off x="6596066" y="2143116"/>
            <a:ext cx="2928958" cy="100013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239272" y="2714620"/>
            <a:ext cx="2012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Admin Dashboard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3836" y="1500174"/>
            <a:ext cx="7477104" cy="4054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0960" y="785794"/>
            <a:ext cx="28740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chemeClr val="tx2"/>
                </a:solidFill>
              </a:rPr>
              <a:t>Product Overview:</a:t>
            </a:r>
            <a:endParaRPr lang="en-US" sz="2400" b="1" dirty="0">
              <a:solidFill>
                <a:schemeClr val="tx2"/>
              </a:solidFill>
            </a:endParaRPr>
          </a:p>
        </p:txBody>
      </p:sp>
      <p:sp>
        <p:nvSpPr>
          <p:cNvPr id="5" name="Arc 4"/>
          <p:cNvSpPr/>
          <p:nvPr/>
        </p:nvSpPr>
        <p:spPr>
          <a:xfrm>
            <a:off x="6596066" y="2143116"/>
            <a:ext cx="2928958" cy="1000132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239272" y="2714620"/>
            <a:ext cx="2294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Customer Dashboard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2398" y="1357298"/>
            <a:ext cx="7643866" cy="50478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xmlns="" id="{BB647808-3535-4C8C-BE5B-08FB924EF3EE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Operational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3D5AB47E-C9C7-43BC-BF18-5F9D37083FBD}"/>
              </a:ext>
            </a:extLst>
          </p:cNvPr>
          <p:cNvSpPr>
            <a:spLocks noGrp="1"/>
          </p:cNvSpPr>
          <p:nvPr/>
        </p:nvSpPr>
        <p:spPr>
          <a:xfrm>
            <a:off x="704850" y="923925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Staff and administrators work from the dashboard and role-limited management screens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7EB4AFAB-C25B-4D18-9CCF-9342C0036A8C}"/>
              </a:ext>
            </a:extLst>
          </p:cNvPr>
          <p:cNvSpPr>
            <a:spLocks noGrp="1"/>
          </p:cNvSpPr>
          <p:nvPr/>
        </p:nvSpPr>
        <p:spPr>
          <a:xfrm>
            <a:off x="981075" y="148590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E8F4F8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DD6EF17C-0192-48EF-B05E-BC9065EA9324}"/>
              </a:ext>
            </a:extLst>
          </p:cNvPr>
          <p:cNvSpPr>
            <a:spLocks noGrp="1"/>
          </p:cNvSpPr>
          <p:nvPr/>
        </p:nvSpPr>
        <p:spPr>
          <a:xfrm>
            <a:off x="1152525" y="16573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Placed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CBDC921-4477-452F-9E51-8D52BFE98DB1}"/>
              </a:ext>
            </a:extLst>
          </p:cNvPr>
          <p:cNvSpPr>
            <a:spLocks noGrp="1"/>
          </p:cNvSpPr>
          <p:nvPr/>
        </p:nvSpPr>
        <p:spPr>
          <a:xfrm>
            <a:off x="1152525" y="19335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New order arrives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7DA8C92D-C43B-42A8-9510-83B972665C07}"/>
              </a:ext>
            </a:extLst>
          </p:cNvPr>
          <p:cNvSpPr>
            <a:spLocks noGrp="1"/>
          </p:cNvSpPr>
          <p:nvPr/>
        </p:nvSpPr>
        <p:spPr>
          <a:xfrm>
            <a:off x="3400425" y="148590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CD514885-A87D-41E3-B217-74960F7DB211}"/>
              </a:ext>
            </a:extLst>
          </p:cNvPr>
          <p:cNvSpPr>
            <a:spLocks noGrp="1"/>
          </p:cNvSpPr>
          <p:nvPr/>
        </p:nvSpPr>
        <p:spPr>
          <a:xfrm>
            <a:off x="3571875" y="16573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 kitchen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ED609BB-4A66-4949-A2F1-44D2C2A3BF4A}"/>
              </a:ext>
            </a:extLst>
          </p:cNvPr>
          <p:cNvSpPr>
            <a:spLocks noGrp="1"/>
          </p:cNvSpPr>
          <p:nvPr/>
        </p:nvSpPr>
        <p:spPr>
          <a:xfrm>
            <a:off x="3571875" y="19335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Staff accepts the order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70D31901-AD72-4F8F-9774-CED28DBE2567}"/>
              </a:ext>
            </a:extLst>
          </p:cNvPr>
          <p:cNvSpPr>
            <a:spLocks noGrp="1"/>
          </p:cNvSpPr>
          <p:nvPr/>
        </p:nvSpPr>
        <p:spPr>
          <a:xfrm>
            <a:off x="5819775" y="148590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9BBBF25B-E3D5-41FE-A826-608BB7BA5E24}"/>
              </a:ext>
            </a:extLst>
          </p:cNvPr>
          <p:cNvSpPr>
            <a:spLocks noGrp="1"/>
          </p:cNvSpPr>
          <p:nvPr/>
        </p:nvSpPr>
        <p:spPr>
          <a:xfrm>
            <a:off x="5991225" y="16573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9FA0A594-CBE7-4FD4-AC8A-9FCBF9C3CE3D}"/>
              </a:ext>
            </a:extLst>
          </p:cNvPr>
          <p:cNvSpPr>
            <a:spLocks noGrp="1"/>
          </p:cNvSpPr>
          <p:nvPr/>
        </p:nvSpPr>
        <p:spPr>
          <a:xfrm>
            <a:off x="5991225" y="19335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Kitchen marks it ready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xmlns="" id="{32B4BF28-CA42-479F-9134-FF4789119DA8}"/>
              </a:ext>
            </a:extLst>
          </p:cNvPr>
          <p:cNvSpPr>
            <a:spLocks noGrp="1"/>
          </p:cNvSpPr>
          <p:nvPr/>
        </p:nvSpPr>
        <p:spPr>
          <a:xfrm>
            <a:off x="8239125" y="1485900"/>
            <a:ext cx="2095500" cy="933450"/>
          </a:xfrm>
          <a:prstGeom prst="roundRect">
            <a:avLst>
              <a:gd name="adj" fmla="val 16327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147429A0-6A99-4EB8-B2AC-B8D2B3CB1AC3}"/>
              </a:ext>
            </a:extLst>
          </p:cNvPr>
          <p:cNvSpPr>
            <a:spLocks noGrp="1"/>
          </p:cNvSpPr>
          <p:nvPr/>
        </p:nvSpPr>
        <p:spPr>
          <a:xfrm>
            <a:off x="8410575" y="1657350"/>
            <a:ext cx="17526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083" lnSpcReduction="20000"/>
          </a:bodyPr>
          <a:lstStyle/>
          <a:p>
            <a:pPr algn="l">
              <a:defRPr sz="12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72532D08-390C-46BF-A691-7447733DBAFA}"/>
              </a:ext>
            </a:extLst>
          </p:cNvPr>
          <p:cNvSpPr>
            <a:spLocks noGrp="1"/>
          </p:cNvSpPr>
          <p:nvPr/>
        </p:nvSpPr>
        <p:spPr>
          <a:xfrm>
            <a:off x="8410575" y="1933575"/>
            <a:ext cx="17526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Order closes</a:t>
            </a:r>
          </a:p>
        </p:txBody>
      </p:sp>
      <p:cxnSp>
        <p:nvCxnSpPr>
          <p:cNvPr id="41" name="Straight Arrow Connector 40"/>
          <p:cNvCxnSpPr>
            <a:stCxn id="3" idx="3"/>
            <a:endCxn id="6" idx="1"/>
          </p:cNvCxnSpPr>
          <p:nvPr/>
        </p:nvCxnSpPr>
        <p:spPr>
          <a:xfrm>
            <a:off x="3076575" y="1952625"/>
            <a:ext cx="3238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cxnSp>
        <p:nvCxnSpPr>
          <p:cNvPr id="42" name="Straight Arrow Connector 41"/>
          <p:cNvCxnSpPr>
            <a:stCxn id="6" idx="3"/>
            <a:endCxn id="9" idx="1"/>
          </p:cNvCxnSpPr>
          <p:nvPr/>
        </p:nvCxnSpPr>
        <p:spPr>
          <a:xfrm>
            <a:off x="5495925" y="1952625"/>
            <a:ext cx="3238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cxnSp>
        <p:nvCxnSpPr>
          <p:cNvPr id="43" name="Straight Arrow Connector 42"/>
          <p:cNvCxnSpPr>
            <a:stCxn id="9" idx="3"/>
            <a:endCxn id="12" idx="1"/>
          </p:cNvCxnSpPr>
          <p:nvPr/>
        </p:nvCxnSpPr>
        <p:spPr>
          <a:xfrm>
            <a:off x="7915275" y="1952625"/>
            <a:ext cx="3238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0009EBD2-A52A-4835-982C-B354D1EBD482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579" lnSpcReduction="20000"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Staff controls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E816059B-B717-48B6-B749-8B50AA834ECB}"/>
              </a:ext>
            </a:extLst>
          </p:cNvPr>
          <p:cNvSpPr>
            <a:spLocks noGrp="1"/>
          </p:cNvSpPr>
          <p:nvPr/>
        </p:nvSpPr>
        <p:spPr>
          <a:xfrm>
            <a:off x="685800" y="3524250"/>
            <a:ext cx="37147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Filter and refresh the queue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Cancel an open order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Switch menu availability when stock runs 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4B74A270-9852-4D81-A2B4-64459143F60A}"/>
              </a:ext>
            </a:extLst>
          </p:cNvPr>
          <p:cNvSpPr>
            <a:spLocks noGrp="1"/>
          </p:cNvSpPr>
          <p:nvPr/>
        </p:nvSpPr>
        <p:spPr>
          <a:xfrm>
            <a:off x="5181600" y="3162300"/>
            <a:ext cx="2952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2579" lnSpcReduction="20000"/>
          </a:bodyPr>
          <a:lstStyle/>
          <a:p>
            <a:pPr algn="l">
              <a:defRPr sz="15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Administrator controls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5BA1560-DBCC-491E-8912-8EF505419E16}"/>
              </a:ext>
            </a:extLst>
          </p:cNvPr>
          <p:cNvSpPr>
            <a:spLocks noGrp="1"/>
          </p:cNvSpPr>
          <p:nvPr/>
        </p:nvSpPr>
        <p:spPr>
          <a:xfrm>
            <a:off x="5181600" y="3524250"/>
            <a:ext cx="4191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Create and edit menu items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Activate or deactivate user accounts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Maintain promotions and customer notes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• Review reports and audit activity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xmlns="" id="{2B7E5CBE-3013-48DE-9057-0F1AE65ED41A}"/>
              </a:ext>
            </a:extLst>
          </p:cNvPr>
          <p:cNvSpPr>
            <a:spLocks noGrp="1"/>
          </p:cNvSpPr>
          <p:nvPr/>
        </p:nvSpPr>
        <p:spPr>
          <a:xfrm>
            <a:off x="9525000" y="3105150"/>
            <a:ext cx="1981200" cy="1657350"/>
          </a:xfrm>
          <a:prstGeom prst="roundRect">
            <a:avLst>
              <a:gd name="adj" fmla="val 9195"/>
            </a:avLst>
          </a:prstGeom>
          <a:solidFill>
            <a:srgbClr val="102A43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CA7B6959-3A91-444A-8724-06B9D423F3A8}"/>
              </a:ext>
            </a:extLst>
          </p:cNvPr>
          <p:cNvSpPr>
            <a:spLocks noGrp="1"/>
          </p:cNvSpPr>
          <p:nvPr/>
        </p:nvSpPr>
        <p:spPr>
          <a:xfrm>
            <a:off x="9753600" y="33718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1667" lnSpcReduction="20000"/>
          </a:bodyPr>
          <a:lstStyle/>
          <a:p>
            <a:pPr algn="l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xmlns="" id="{0B0A654C-238B-4C98-8E69-E8891F5D79DC}"/>
              </a:ext>
            </a:extLst>
          </p:cNvPr>
          <p:cNvSpPr>
            <a:spLocks noGrp="1"/>
          </p:cNvSpPr>
          <p:nvPr/>
        </p:nvSpPr>
        <p:spPr>
          <a:xfrm>
            <a:off x="9753600" y="3790950"/>
            <a:ext cx="147637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146" lnSpcReduction="10000"/>
          </a:bodyPr>
          <a:lstStyle/>
          <a:p>
            <a:pPr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Orders today</a:t>
            </a:r>
          </a:p>
          <a:p>
            <a:pPr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In progress</a:t>
            </a:r>
          </a:p>
          <a:p>
            <a:pPr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Completed sales</a:t>
            </a:r>
          </a:p>
          <a:p>
            <a:pPr algn="l">
              <a:buClr>
                <a:schemeClr val="accent5">
                  <a:lumMod val="75000"/>
                </a:schemeClr>
              </a:buClr>
              <a:buFont typeface="Wingdings" pitchFamily="2" charset="2"/>
              <a:buChar char="§"/>
              <a:defRPr sz="1200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Sold-out items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xmlns="" id="{AB25F797-D7AE-4798-8D16-C465F9747F2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xmlns="" id="{B35CE42B-321A-42AF-973A-2B4F74FA82FF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xmlns="" val="89027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63BC5AFD-83EB-447C-8EE1-8F4BAD845D62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Frontend and API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FE1A91FB-3532-49F3-8737-2E3602EF2F8A}"/>
              </a:ext>
            </a:extLst>
          </p:cNvPr>
          <p:cNvSpPr>
            <a:spLocks noGrp="1"/>
          </p:cNvSpPr>
          <p:nvPr/>
        </p:nvSpPr>
        <p:spPr>
          <a:xfrm>
            <a:off x="704850" y="923925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frontend can operate with bundled demonstration data or a configured live API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1F9CA782-9C49-4509-AB09-0CAF50132C55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E8F4F8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1E11C92-F735-4823-9211-ABAAF6FC5A8E}"/>
              </a:ext>
            </a:extLst>
          </p:cNvPr>
          <p:cNvSpPr>
            <a:spLocks noGrp="1"/>
          </p:cNvSpPr>
          <p:nvPr/>
        </p:nvSpPr>
        <p:spPr>
          <a:xfrm>
            <a:off x="1009650" y="195262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697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Browser frontend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EC3D72E6-AAA3-482C-9D07-96E62344EF55}"/>
              </a:ext>
            </a:extLst>
          </p:cNvPr>
          <p:cNvSpPr>
            <a:spLocks noGrp="1"/>
          </p:cNvSpPr>
          <p:nvPr/>
        </p:nvSpPr>
        <p:spPr>
          <a:xfrm>
            <a:off x="1009650" y="2400300"/>
            <a:ext cx="2571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244" lnSpcReduction="20000"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React 19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TanStack Start file-based routes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Tailwind CSS and Radix UI components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Vite development and production builds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1F9BCDA1-7CDE-4DDF-BE6E-D44ED651BFAA}"/>
              </a:ext>
            </a:extLst>
          </p:cNvPr>
          <p:cNvSpPr>
            <a:spLocks noGrp="1"/>
          </p:cNvSpPr>
          <p:nvPr/>
        </p:nvSpPr>
        <p:spPr>
          <a:xfrm>
            <a:off x="1009650" y="37147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976" lnSpcReduction="10000"/>
          </a:bodyPr>
          <a:lstStyle/>
          <a:p>
            <a:pPr algn="l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Settings read VITE_API_BASE_URL or a saved browser value.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F1A7F1DF-7EE1-41AF-B339-26EE620CA97D}"/>
              </a:ext>
            </a:extLst>
          </p:cNvPr>
          <p:cNvSpPr>
            <a:spLocks noGrp="1"/>
          </p:cNvSpPr>
          <p:nvPr/>
        </p:nvSpPr>
        <p:spPr>
          <a:xfrm>
            <a:off x="4533900" y="1666875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17803A24-EA82-40DE-BC46-A894E92A0B18}"/>
              </a:ext>
            </a:extLst>
          </p:cNvPr>
          <p:cNvSpPr>
            <a:spLocks noGrp="1"/>
          </p:cNvSpPr>
          <p:nvPr/>
        </p:nvSpPr>
        <p:spPr>
          <a:xfrm>
            <a:off x="4800600" y="195262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697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Data access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E6312940-AC5F-4120-96AC-F1C5767557CB}"/>
              </a:ext>
            </a:extLst>
          </p:cNvPr>
          <p:cNvSpPr>
            <a:spLocks noGrp="1"/>
          </p:cNvSpPr>
          <p:nvPr/>
        </p:nvSpPr>
        <p:spPr>
          <a:xfrm>
            <a:off x="4800600" y="2400300"/>
            <a:ext cx="257175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API client adds JSON headers and a JWT bearer token when available. It handles unreachable API, 401, 403 and other response errors.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xmlns="" id="{038953B2-4267-4390-B131-AB1CE003A966}"/>
              </a:ext>
            </a:extLst>
          </p:cNvPr>
          <p:cNvSpPr>
            <a:spLocks noGrp="1"/>
          </p:cNvSpPr>
          <p:nvPr/>
        </p:nvSpPr>
        <p:spPr>
          <a:xfrm>
            <a:off x="8324850" y="1666875"/>
            <a:ext cx="3143250" cy="2667000"/>
          </a:xfrm>
          <a:prstGeom prst="roundRect">
            <a:avLst>
              <a:gd name="adj" fmla="val 5714"/>
            </a:avLst>
          </a:prstGeom>
          <a:solidFill>
            <a:srgbClr val="FDF1E7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B7C7498-18E2-45D7-B3B3-FA69914FE550}"/>
              </a:ext>
            </a:extLst>
          </p:cNvPr>
          <p:cNvSpPr>
            <a:spLocks noGrp="1"/>
          </p:cNvSpPr>
          <p:nvPr/>
        </p:nvSpPr>
        <p:spPr>
          <a:xfrm>
            <a:off x="8591550" y="1952625"/>
            <a:ext cx="2619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697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Optional services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903D19BA-1DF9-45DB-9F7D-DE4293E9241D}"/>
              </a:ext>
            </a:extLst>
          </p:cNvPr>
          <p:cNvSpPr>
            <a:spLocks noGrp="1"/>
          </p:cNvSpPr>
          <p:nvPr/>
        </p:nvSpPr>
        <p:spPr>
          <a:xfrm>
            <a:off x="8591550" y="2400300"/>
            <a:ext cx="25717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ASP.NET Core Web API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Health endpoint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Role-specific REST endpoints</a:t>
            </a:r>
          </a:p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AI recommendations endpoint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BEAC4D11-DB0A-450C-9157-7A29AC1DCC10}"/>
              </a:ext>
            </a:extLst>
          </p:cNvPr>
          <p:cNvSpPr>
            <a:spLocks noGrp="1"/>
          </p:cNvSpPr>
          <p:nvPr/>
        </p:nvSpPr>
        <p:spPr>
          <a:xfrm>
            <a:off x="8591550" y="3714750"/>
            <a:ext cx="25717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976" lnSpcReduction="10000"/>
          </a:bodyPr>
          <a:lstStyle/>
          <a:p>
            <a:pPr algn="l">
              <a:defRPr sz="105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When no base URL exists, the app uses in-memory demo data.</a:t>
            </a:r>
          </a:p>
        </p:txBody>
      </p:sp>
      <p:cxnSp>
        <p:nvCxnSpPr>
          <p:cNvPr id="32" name="Straight Arrow Connector 31"/>
          <p:cNvCxnSpPr>
            <a:stCxn id="3" idx="3"/>
            <a:endCxn id="7" idx="1"/>
          </p:cNvCxnSpPr>
          <p:nvPr/>
        </p:nvCxnSpPr>
        <p:spPr>
          <a:xfrm>
            <a:off x="3886200" y="3000375"/>
            <a:ext cx="64770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cxnSp>
        <p:nvCxnSpPr>
          <p:cNvPr id="33" name="Straight Arrow Connector 32"/>
          <p:cNvCxnSpPr>
            <a:stCxn id="7" idx="3"/>
            <a:endCxn id="10" idx="1"/>
          </p:cNvCxnSpPr>
          <p:nvPr/>
        </p:nvCxnSpPr>
        <p:spPr>
          <a:xfrm>
            <a:off x="7677150" y="3000375"/>
            <a:ext cx="64770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A27A113D-B3C0-4EFC-A69E-A2A25551D891}"/>
              </a:ext>
            </a:extLst>
          </p:cNvPr>
          <p:cNvSpPr>
            <a:spLocks noGrp="1"/>
          </p:cNvSpPr>
          <p:nvPr/>
        </p:nvSpPr>
        <p:spPr>
          <a:xfrm>
            <a:off x="1066800" y="5095875"/>
            <a:ext cx="10001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8148"/>
          </a:bodyPr>
          <a:lstStyle/>
          <a:p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Deployment boundary: the repository contains the frontend. The source references an external ASP.NET Core API rather than including its server implementation.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21A23935-F1EF-49E4-94B7-CAF6E13E116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644F9CC8-6CA7-4D65-A494-04E6466C7DF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xmlns="" val="952359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3BC5AFD-83EB-447C-8EE1-8F4BAD845D62}"/>
              </a:ext>
            </a:extLst>
          </p:cNvPr>
          <p:cNvSpPr>
            <a:spLocks noGrp="1"/>
          </p:cNvSpPr>
          <p:nvPr/>
        </p:nvSpPr>
        <p:spPr>
          <a:xfrm>
            <a:off x="309522" y="714356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 smtClean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System</a:t>
            </a:r>
            <a:r>
              <a:rPr sz="2400" b="1" smtClean="0">
                <a:solidFill>
                  <a:srgbClr val="102A43"/>
                </a:solidFill>
                <a:latin typeface="Arial"/>
                <a:ea typeface="Arial"/>
                <a:cs typeface="Arial"/>
              </a:rPr>
              <a:t> </a:t>
            </a: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pic>
        <p:nvPicPr>
          <p:cNvPr id="3" name="Picture 2" descr="WhatsApp Image 2026-10-02 at 2.02.25 PM.jpeg"/>
          <p:cNvPicPr/>
          <p:nvPr/>
        </p:nvPicPr>
        <p:blipFill>
          <a:blip r:embed="rId2"/>
          <a:stretch>
            <a:fillRect/>
          </a:stretch>
        </p:blipFill>
        <p:spPr>
          <a:xfrm>
            <a:off x="952464" y="1214422"/>
            <a:ext cx="9144064" cy="52149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2D93FC57-7985-4C8C-AECF-EEAA73693DAE}"/>
              </a:ext>
            </a:extLst>
          </p:cNvPr>
          <p:cNvSpPr>
            <a:spLocks noGrp="1"/>
          </p:cNvSpPr>
          <p:nvPr/>
        </p:nvSpPr>
        <p:spPr>
          <a:xfrm>
            <a:off x="666712" y="642918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Requirements and non-functional expectations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A42E528-2F21-4D6D-B2C4-33D1616ACF84}"/>
              </a:ext>
            </a:extLst>
          </p:cNvPr>
          <p:cNvSpPr>
            <a:spLocks noGrp="1"/>
          </p:cNvSpPr>
          <p:nvPr/>
        </p:nvSpPr>
        <p:spPr>
          <a:xfrm>
            <a:off x="666712" y="1142984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Evidence from the current frontend implementation</a:t>
            </a:r>
          </a:p>
        </p:txBody>
      </p:sp>
      <p:graphicFrame>
        <p:nvGraphicFramePr>
          <p:cNvPr id="9" name="Table 8"/>
          <p:cNvGraphicFramePr/>
          <p:nvPr/>
        </p:nvGraphicFramePr>
        <p:xfrm>
          <a:off x="685800" y="1476375"/>
          <a:ext cx="10820400" cy="4000500"/>
        </p:xfrm>
        <a:graphic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Expectation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Implementation evidence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Current boundary</a:t>
                      </a: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Role-based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Route shell checks allowed roles and redirects unauthorized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Client-side route control depends on server-side enforcement in live mode.</a:t>
                      </a:r>
                    </a:p>
                  </a:txBody>
                  <a:tcPr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Operational continuity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Demo mode keeps the UI usable without an API. Load and error states communicate failures.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Demo changes live only in browser memory and reset after refresh.</a:t>
                      </a:r>
                    </a:p>
                  </a:txBody>
                  <a:tcPr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Live API calls attach JWT bearer tokens. API client handles 401 and 403 responses. Audit logs exist as an admin view.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Token storage uses localStorage in this frontend. Backend controls are outside this repository.</a:t>
                      </a:r>
                    </a:p>
                  </a:txBody>
                  <a:tcPr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Role-specific navigation reduces irrelevant screens. Mobile navigation provides an alternative to the desktop sidebar.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Accessibility testing is not evidenced by a test suite in this repository.</a:t>
                      </a:r>
                    </a:p>
                  </a:txBody>
                  <a:tcPr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Revenue, best sellers and sales-by-channel screens include CSV export.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Arial"/>
                          <a:ea typeface="Arial"/>
                          <a:cs typeface="Arial"/>
                        </a:rPr>
                        <a:t>Data accuracy depends on the live API or bundled demo data.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8D103E5B-E945-475B-A962-E52F9710473F}"/>
              </a:ext>
            </a:extLst>
          </p:cNvPr>
          <p:cNvSpPr>
            <a:spLocks noGrp="1"/>
          </p:cNvSpPr>
          <p:nvPr/>
        </p:nvSpPr>
        <p:spPr>
          <a:xfrm>
            <a:off x="742950" y="58102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1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“current boundary” column keeps the presentation accurate about what the frontend can demonstrate versus what needs backend or QA evidence.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85E39610-8CB9-4F7C-88A6-E5DED6AFCDDD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CA0B53F7-4D18-441A-A1AC-E5CBEC093C04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xmlns="" val="816850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xmlns="" id="{A20E7F85-E54E-4193-AE16-E0C9B85D1235}"/>
              </a:ext>
            </a:extLst>
          </p:cNvPr>
          <p:cNvSpPr>
            <a:spLocks noGrp="1"/>
          </p:cNvSpPr>
          <p:nvPr/>
        </p:nvSpPr>
        <p:spPr>
          <a:xfrm>
            <a:off x="738150" y="642918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Quality, deployment and reliability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DA41859E-26C3-44A8-9DFF-66DB9273F6D8}"/>
              </a:ext>
            </a:extLst>
          </p:cNvPr>
          <p:cNvSpPr>
            <a:spLocks noGrp="1"/>
          </p:cNvSpPr>
          <p:nvPr/>
        </p:nvSpPr>
        <p:spPr>
          <a:xfrm>
            <a:off x="666712" y="1142984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The repository provides build quality checks. A complete pipeline still needs to be added.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4CAFF854-01C5-4AF7-B9D9-1C7939895C85}"/>
              </a:ext>
            </a:extLst>
          </p:cNvPr>
          <p:cNvSpPr>
            <a:spLocks noGrp="1"/>
          </p:cNvSpPr>
          <p:nvPr/>
        </p:nvSpPr>
        <p:spPr>
          <a:xfrm>
            <a:off x="809588" y="16430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697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Current project scripts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xmlns="" id="{B466F37B-0A31-4DB2-AF83-744B33A514A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4305300" cy="2438400"/>
          </a:xfrm>
          <a:prstGeom prst="roundRect">
            <a:avLst>
              <a:gd name="adj" fmla="val 6250"/>
            </a:avLst>
          </a:prstGeom>
          <a:solidFill>
            <a:srgbClr val="E8F4F8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D4EA6D3B-0756-4713-8FEA-16311D5357D7}"/>
              </a:ext>
            </a:extLst>
          </p:cNvPr>
          <p:cNvSpPr>
            <a:spLocks noGrp="1"/>
          </p:cNvSpPr>
          <p:nvPr/>
        </p:nvSpPr>
        <p:spPr>
          <a:xfrm>
            <a:off x="971550" y="2324100"/>
            <a:ext cx="3333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3426" lnSpcReduction="20000"/>
          </a:bodyPr>
          <a:lstStyle/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npm run dev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Local development server</a:t>
            </a:r>
          </a:p>
          <a:p>
            <a:endParaRPr/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npm run build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Production build to dist/</a:t>
            </a:r>
          </a:p>
          <a:p>
            <a:endParaRPr/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npm run lint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ESLint validation</a:t>
            </a:r>
          </a:p>
          <a:p>
            <a:endParaRPr/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npm run format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Prettier formatting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41D3A5B1-B54D-45AC-9477-D98C88CDAC9A}"/>
              </a:ext>
            </a:extLst>
          </p:cNvPr>
          <p:cNvSpPr>
            <a:spLocks noGrp="1"/>
          </p:cNvSpPr>
          <p:nvPr/>
        </p:nvSpPr>
        <p:spPr>
          <a:xfrm>
            <a:off x="6738942" y="2071678"/>
            <a:ext cx="3714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4697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Recommended deployment pipeline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xmlns="" id="{4938A29C-95E8-4F2A-B247-03C86FA76878}"/>
              </a:ext>
            </a:extLst>
          </p:cNvPr>
          <p:cNvSpPr>
            <a:spLocks noGrp="1"/>
          </p:cNvSpPr>
          <p:nvPr/>
        </p:nvSpPr>
        <p:spPr>
          <a:xfrm>
            <a:off x="6572250" y="2524125"/>
            <a:ext cx="147637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xmlns="" id="{54755689-B0FB-4A61-AC3D-AA31DDD8D97B}"/>
              </a:ext>
            </a:extLst>
          </p:cNvPr>
          <p:cNvSpPr>
            <a:spLocks noGrp="1"/>
          </p:cNvSpPr>
          <p:nvPr/>
        </p:nvSpPr>
        <p:spPr>
          <a:xfrm>
            <a:off x="8334375" y="2524125"/>
            <a:ext cx="147637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0CA425FE-8446-4B6F-BF0C-1A969BC8BD08}"/>
              </a:ext>
            </a:extLst>
          </p:cNvPr>
          <p:cNvSpPr>
            <a:spLocks noGrp="1"/>
          </p:cNvSpPr>
          <p:nvPr/>
        </p:nvSpPr>
        <p:spPr>
          <a:xfrm>
            <a:off x="10096500" y="2524125"/>
            <a:ext cx="1476375" cy="1181100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CDFD015B-C285-4317-A502-B1AB586EE360}"/>
              </a:ext>
            </a:extLst>
          </p:cNvPr>
          <p:cNvSpPr>
            <a:spLocks noGrp="1"/>
          </p:cNvSpPr>
          <p:nvPr/>
        </p:nvSpPr>
        <p:spPr>
          <a:xfrm>
            <a:off x="6743700" y="27813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6905" lnSpcReduction="20000"/>
          </a:bodyPr>
          <a:lstStyle/>
          <a:p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Pull request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2C71D6F8-27E3-4FDD-A57A-ECF326206EFC}"/>
              </a:ext>
            </a:extLst>
          </p:cNvPr>
          <p:cNvSpPr>
            <a:spLocks noGrp="1"/>
          </p:cNvSpPr>
          <p:nvPr/>
        </p:nvSpPr>
        <p:spPr>
          <a:xfrm>
            <a:off x="6743700" y="31051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436" lnSpcReduction="10000"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Run install,</a:t>
            </a:r>
          </a:p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lint and build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E34929D6-9DE3-40DB-9B57-8BA1F743B2E0}"/>
              </a:ext>
            </a:extLst>
          </p:cNvPr>
          <p:cNvSpPr>
            <a:spLocks noGrp="1"/>
          </p:cNvSpPr>
          <p:nvPr/>
        </p:nvSpPr>
        <p:spPr>
          <a:xfrm>
            <a:off x="8505825" y="2781300"/>
            <a:ext cx="11906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6905" lnSpcReduction="20000"/>
          </a:bodyPr>
          <a:lstStyle/>
          <a:p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Merge to main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6D4F71EF-B779-445A-91BD-8BB3EA7F03C3}"/>
              </a:ext>
            </a:extLst>
          </p:cNvPr>
          <p:cNvSpPr>
            <a:spLocks noGrp="1"/>
          </p:cNvSpPr>
          <p:nvPr/>
        </p:nvSpPr>
        <p:spPr>
          <a:xfrm>
            <a:off x="8505825" y="3105150"/>
            <a:ext cx="1190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436" lnSpcReduction="10000"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Publish static</a:t>
            </a:r>
          </a:p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dist/ assets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D5E539F9-0F82-4E95-8C32-0C3CBA8941AD}"/>
              </a:ext>
            </a:extLst>
          </p:cNvPr>
          <p:cNvSpPr>
            <a:spLocks noGrp="1"/>
          </p:cNvSpPr>
          <p:nvPr/>
        </p:nvSpPr>
        <p:spPr>
          <a:xfrm>
            <a:off x="10267950" y="2781300"/>
            <a:ext cx="1143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6905" lnSpcReduction="20000"/>
          </a:bodyPr>
          <a:lstStyle/>
          <a:p>
            <a:pPr algn="l">
              <a:defRPr sz="10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Health check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AB09A590-C1B3-4576-8D4A-0865E1FA04FB}"/>
              </a:ext>
            </a:extLst>
          </p:cNvPr>
          <p:cNvSpPr>
            <a:spLocks noGrp="1"/>
          </p:cNvSpPr>
          <p:nvPr/>
        </p:nvSpPr>
        <p:spPr>
          <a:xfrm>
            <a:off x="10267950" y="3105150"/>
            <a:ext cx="114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436" lnSpcReduction="10000"/>
          </a:bodyPr>
          <a:lstStyle/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Verify API and</a:t>
            </a:r>
          </a:p>
          <a:p>
            <a:pPr algn="l">
              <a:defRPr sz="97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monitor errors</a:t>
            </a:r>
          </a:p>
        </p:txBody>
      </p:sp>
      <p:cxnSp>
        <p:nvCxnSpPr>
          <p:cNvPr id="37" name="Straight Arrow Connector 36"/>
          <p:cNvCxnSpPr>
            <a:stCxn id="7" idx="3"/>
            <a:endCxn id="8" idx="1"/>
          </p:cNvCxnSpPr>
          <p:nvPr/>
        </p:nvCxnSpPr>
        <p:spPr>
          <a:xfrm>
            <a:off x="8048625" y="3114675"/>
            <a:ext cx="2857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cxnSp>
        <p:nvCxnSpPr>
          <p:cNvPr id="38" name="Straight Arrow Connector 37"/>
          <p:cNvCxnSpPr>
            <a:stCxn id="8" idx="3"/>
            <a:endCxn id="9" idx="1"/>
          </p:cNvCxnSpPr>
          <p:nvPr/>
        </p:nvCxnSpPr>
        <p:spPr>
          <a:xfrm>
            <a:off x="9810750" y="3114675"/>
            <a:ext cx="285750" cy="0"/>
          </a:xfrm>
          <a:prstGeom prst="straightConnector1">
            <a:avLst/>
          </a:prstGeom>
          <a:ln w="19050">
            <a:solidFill>
              <a:srgbClr val="00A6A6"/>
            </a:solidFill>
            <a:prstDash val="solid"/>
            <a:headEnd type="triangle" w="sm" len="sm"/>
          </a:ln>
        </p:spPr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xmlns="" id="{91871BC4-D0EE-4A84-9093-2C578871A885}"/>
              </a:ext>
            </a:extLst>
          </p:cNvPr>
          <p:cNvSpPr>
            <a:spLocks noGrp="1"/>
          </p:cNvSpPr>
          <p:nvPr/>
        </p:nvSpPr>
        <p:spPr>
          <a:xfrm>
            <a:off x="685800" y="5143500"/>
            <a:ext cx="1000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2500" lnSpcReduction="10000"/>
          </a:bodyPr>
          <a:lstStyle/>
          <a:p>
            <a:pPr algn="l">
              <a:defRPr sz="1500" b="1">
                <a:solidFill>
                  <a:srgbClr val="F0716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07167"/>
                </a:solidFill>
                <a:latin typeface="Arial"/>
                <a:ea typeface="Arial"/>
                <a:cs typeface="Arial"/>
              </a:rPr>
              <a:t>Repository finding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07BD9388-C779-48D0-BFDE-D10470638FCB}"/>
              </a:ext>
            </a:extLst>
          </p:cNvPr>
          <p:cNvSpPr>
            <a:spLocks noGrp="1"/>
          </p:cNvSpPr>
          <p:nvPr/>
        </p:nvSpPr>
        <p:spPr>
          <a:xfrm>
            <a:off x="685800" y="5524500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5356" lnSpcReduction="10000"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The visible repository contains no GitHub Actions workflow directory. The deployment pipeline shown above is a recommended next step, not an implemented feature.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xmlns="" id="{EA5AC8B8-B70E-49C5-8F76-66D12B9D84B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7A788353-DB54-43A1-B26E-C971697A3C2C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xmlns="" val="753163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A20E7F85-E54E-4193-AE16-E0C9B85D1235}"/>
              </a:ext>
            </a:extLst>
          </p:cNvPr>
          <p:cNvSpPr>
            <a:spLocks noGrp="1"/>
          </p:cNvSpPr>
          <p:nvPr/>
        </p:nvSpPr>
        <p:spPr>
          <a:xfrm>
            <a:off x="309522" y="785794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lang="en-US" sz="2400" b="1" dirty="0" smtClean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CI/CD Pipeline:</a:t>
            </a:r>
            <a:endParaRPr sz="2400" b="1">
              <a:solidFill>
                <a:srgbClr val="102A43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1571612"/>
            <a:ext cx="7313619" cy="38449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Arc 4"/>
          <p:cNvSpPr/>
          <p:nvPr/>
        </p:nvSpPr>
        <p:spPr>
          <a:xfrm>
            <a:off x="6024562" y="2000240"/>
            <a:ext cx="3643338" cy="1071570"/>
          </a:xfrm>
          <a:prstGeom prst="arc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7953388" y="2714620"/>
            <a:ext cx="383388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The </a:t>
            </a:r>
            <a:r>
              <a:rPr lang="en-US" sz="1400" dirty="0" err="1" smtClean="0"/>
              <a:t>StackedHub</a:t>
            </a:r>
            <a:r>
              <a:rPr lang="en-US" sz="1400" dirty="0" smtClean="0"/>
              <a:t> project uses </a:t>
            </a:r>
            <a:r>
              <a:rPr lang="en-US" sz="1400" dirty="0" err="1" smtClean="0"/>
              <a:t>GitHub</a:t>
            </a:r>
            <a:r>
              <a:rPr lang="en-US" sz="1400" dirty="0" smtClean="0"/>
              <a:t> Actions for Continuous Integration and Continuous Deployment (CI/CD). The pipeline automatically builds, tests, and deploys the backend API to Azure App Service whenever changes are pushed to the main branch.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93174A37-CC1E-4724-BA01-193734D3B0E5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90487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4792" lnSpcReduction="10000"/>
          </a:bodyPr>
          <a:lstStyle/>
          <a:p>
            <a:pPr algn="l">
              <a:defRPr sz="24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Technical decisions and implementation considerations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6901E0FB-51AA-46B6-9ED0-EDC6E8B96120}"/>
              </a:ext>
            </a:extLst>
          </p:cNvPr>
          <p:cNvSpPr>
            <a:spLocks noGrp="1"/>
          </p:cNvSpPr>
          <p:nvPr/>
        </p:nvSpPr>
        <p:spPr>
          <a:xfrm>
            <a:off x="704850" y="923925"/>
            <a:ext cx="876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708" lnSpcReduction="20000"/>
          </a:bodyPr>
          <a:lstStyle/>
          <a:p>
            <a:pPr algn="l">
              <a:defRPr sz="1200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Why the current design supports a staged restaurant-system rollout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xmlns="" id="{820F60B2-EAD0-4900-AA6C-4D7746040728}"/>
              </a:ext>
            </a:extLst>
          </p:cNvPr>
          <p:cNvSpPr>
            <a:spLocks noGrp="1"/>
          </p:cNvSpPr>
          <p:nvPr/>
        </p:nvSpPr>
        <p:spPr>
          <a:xfrm>
            <a:off x="685800" y="1581150"/>
            <a:ext cx="33337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5A8897-3B3A-4400-B15C-75581FA56354}"/>
              </a:ext>
            </a:extLst>
          </p:cNvPr>
          <p:cNvSpPr>
            <a:spLocks noGrp="1"/>
          </p:cNvSpPr>
          <p:nvPr/>
        </p:nvSpPr>
        <p:spPr>
          <a:xfrm>
            <a:off x="857250" y="1733550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288" lnSpcReduction="10000"/>
          </a:bodyPr>
          <a:lstStyle/>
          <a:p>
            <a:pPr algn="l">
              <a:defRPr sz="8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DEMO-FIRST MODE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76DAA732-3699-4242-A7A6-7BC4737341CA}"/>
              </a:ext>
            </a:extLst>
          </p:cNvPr>
          <p:cNvSpPr>
            <a:spLocks noGrp="1"/>
          </p:cNvSpPr>
          <p:nvPr/>
        </p:nvSpPr>
        <p:spPr>
          <a:xfrm>
            <a:off x="857250" y="1990725"/>
            <a:ext cx="29908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Teams can demo the full interface before the API is deployed. The trade-off is that updates reset on refresh.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xmlns="" id="{6FD367CA-1D29-447B-ADBD-10FCEDBDF6E5}"/>
              </a:ext>
            </a:extLst>
          </p:cNvPr>
          <p:cNvSpPr>
            <a:spLocks noGrp="1"/>
          </p:cNvSpPr>
          <p:nvPr/>
        </p:nvSpPr>
        <p:spPr>
          <a:xfrm>
            <a:off x="4429125" y="1581150"/>
            <a:ext cx="33337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89BCEA7A-01AB-4353-8CE8-B7B0A0DF5959}"/>
              </a:ext>
            </a:extLst>
          </p:cNvPr>
          <p:cNvSpPr>
            <a:spLocks noGrp="1"/>
          </p:cNvSpPr>
          <p:nvPr/>
        </p:nvSpPr>
        <p:spPr>
          <a:xfrm>
            <a:off x="4600575" y="1733550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288" lnSpcReduction="10000"/>
          </a:bodyPr>
          <a:lstStyle/>
          <a:p>
            <a:pPr algn="l">
              <a:defRPr sz="825" b="1">
                <a:solidFill>
                  <a:srgbClr val="177E8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7E89"/>
                </a:solidFill>
                <a:latin typeface="Arial"/>
                <a:ea typeface="Arial"/>
                <a:cs typeface="Arial"/>
              </a:rPr>
              <a:t>SINGLE API CLIENT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37ED580A-2158-4416-834B-98A136BB9ED5}"/>
              </a:ext>
            </a:extLst>
          </p:cNvPr>
          <p:cNvSpPr>
            <a:spLocks noGrp="1"/>
          </p:cNvSpPr>
          <p:nvPr/>
        </p:nvSpPr>
        <p:spPr>
          <a:xfrm>
            <a:off x="4600575" y="1990725"/>
            <a:ext cx="29908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One integration point centralises base-URL selection, headers, JWT handling and standard error messages.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xmlns="" id="{9E07E506-48FE-4B6B-B3AB-E4DCD4F1A163}"/>
              </a:ext>
            </a:extLst>
          </p:cNvPr>
          <p:cNvSpPr>
            <a:spLocks noGrp="1"/>
          </p:cNvSpPr>
          <p:nvPr/>
        </p:nvSpPr>
        <p:spPr>
          <a:xfrm>
            <a:off x="8172450" y="1581150"/>
            <a:ext cx="3333750" cy="171450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229754B-3FAE-4C5E-A225-D4E88086C2AA}"/>
              </a:ext>
            </a:extLst>
          </p:cNvPr>
          <p:cNvSpPr>
            <a:spLocks noGrp="1"/>
          </p:cNvSpPr>
          <p:nvPr/>
        </p:nvSpPr>
        <p:spPr>
          <a:xfrm>
            <a:off x="8343900" y="1733550"/>
            <a:ext cx="2990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6288" lnSpcReduction="10000"/>
          </a:bodyPr>
          <a:lstStyle/>
          <a:p>
            <a:pPr algn="l">
              <a:defRPr sz="825" b="1">
                <a:solidFill>
                  <a:srgbClr val="F0716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07167"/>
                </a:solidFill>
                <a:latin typeface="Arial"/>
                <a:ea typeface="Arial"/>
                <a:cs typeface="Arial"/>
              </a:rPr>
              <a:t>FILE-BASED ROUTING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1F127FA7-929C-41EA-864C-83AF4F34C52D}"/>
              </a:ext>
            </a:extLst>
          </p:cNvPr>
          <p:cNvSpPr>
            <a:spLocks noGrp="1"/>
          </p:cNvSpPr>
          <p:nvPr/>
        </p:nvSpPr>
        <p:spPr>
          <a:xfrm>
            <a:off x="8343900" y="1990725"/>
            <a:ext cx="2990850" cy="1181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275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TanStack Start routes map directly to screens, which keeps the application structure easy to navigate and extend.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C88484C4-3C55-4815-B003-5EDC35385CDD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9621" lnSpcReduction="20000"/>
          </a:bodyPr>
          <a:lstStyle/>
          <a:p>
            <a:pPr algn="l">
              <a:defRPr sz="16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Priority enhancements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A44EB16-7E76-4D80-84AB-972FD82F001B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10096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1. Add automated unit, component and end-to-end tests.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2. Add GitHub Actions for lint, build and deployment checks.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3. Verify server-side role authorisation, validation, token lifecycle and audit persistence.</a:t>
            </a:r>
          </a:p>
          <a:p>
            <a:pPr algn="l">
              <a:defRPr sz="1350" b="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2933"/>
                </a:solidFill>
                <a:latin typeface="Arial"/>
                <a:ea typeface="Arial"/>
                <a:cs typeface="Arial"/>
              </a:rPr>
              <a:t>4. Replace demo-only portal checkout with a persisted order endpoint when the backend is available.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882B4A9E-3B76-488E-848E-29941A786F3B}"/>
              </a:ext>
            </a:extLst>
          </p:cNvPr>
          <p:cNvSpPr>
            <a:spLocks noGrp="1"/>
          </p:cNvSpPr>
          <p:nvPr/>
        </p:nvSpPr>
        <p:spPr>
          <a:xfrm>
            <a:off x="876300" y="5876925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66003" lnSpcReduction="20000"/>
          </a:bodyPr>
          <a:lstStyle/>
          <a:p>
            <a:pPr algn="ctr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StackedHub already demonstrates the key restaurant workflows. The next milestone is turning the demo-to-live integration boundary into an evidence-backed production release process.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10FC8BFE-CA63-4DA1-86ED-809C23FB9736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342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l">
              <a:defRPr sz="825" b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StackedHub application overview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xmlns="" id="{345BD18A-65C7-4020-9B18-FC9E20944306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3619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78636" lnSpcReduction="20000"/>
          </a:bodyPr>
          <a:lstStyle/>
          <a:p>
            <a:pPr algn="r">
              <a:defRPr sz="825" b="1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627D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xmlns="" val="20324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802</TotalTime>
  <Words>1309</Words>
  <Application>Walnut Exporter</Application>
  <DocSecurity>0</DocSecurity>
  <PresentationFormat>Custom</PresentationFormat>
  <Paragraphs>198</Paragraphs>
  <Slides>18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Flow</vt:lpstr>
      <vt:lpstr>Slide 1</vt:lpstr>
      <vt:lpstr>Slide 2</vt:lpstr>
      <vt:lpstr>Full stack customer management system:  Admin Dashboard Customer Portal Staff Portal</vt:lpstr>
      <vt:lpstr>One Platform, three types of users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Lefa</cp:lastModifiedBy>
  <cp:revision>51</cp:revision>
  <dcterms:created xsi:type="dcterms:W3CDTF">2026-09-29T14:46:03Z</dcterms:created>
  <dcterms:modified xsi:type="dcterms:W3CDTF">2026-10-05T15:17:27Z</dcterms:modified>
</cp:coreProperties>
</file>